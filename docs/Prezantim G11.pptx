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embeddedFontLst>
    <p:embeddedFont>
      <p:font typeface="Dosis"/>
      <p:regular r:id="rId21"/>
      <p:bold r:id="rId22"/>
    </p:embeddedFont>
    <p:embeddedFont>
      <p:font typeface="Jura SemiBold"/>
      <p:regular r:id="rId23"/>
      <p:bold r:id="rId24"/>
    </p:embeddedFont>
    <p:embeddedFont>
      <p:font typeface="Arial Narrow"/>
      <p:regular r:id="rId25"/>
      <p:bold r:id="rId26"/>
      <p:italic r:id="rId27"/>
      <p:boldItalic r:id="rId28"/>
    </p:embeddedFont>
    <p:embeddedFont>
      <p:font typeface="Jura"/>
      <p:regular r:id="rId29"/>
      <p:bold r:id="rId30"/>
    </p:embeddedFont>
    <p:embeddedFont>
      <p:font typeface="Roboto Mono"/>
      <p:regular r:id="rId31"/>
      <p:bold r:id="rId32"/>
      <p:italic r:id="rId33"/>
      <p:boldItalic r:id="rId34"/>
    </p:embeddedFont>
    <p:embeddedFont>
      <p:font typeface="Rajdhani"/>
      <p:regular r:id="rId35"/>
      <p:bold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5556">
          <p15:clr>
            <a:srgbClr val="A4A3A4"/>
          </p15:clr>
        </p15:guide>
        <p15:guide id="3" pos="227">
          <p15:clr>
            <a:srgbClr val="747775"/>
          </p15:clr>
        </p15:guide>
        <p15:guide id="4" pos="1950">
          <p15:clr>
            <a:srgbClr val="747775"/>
          </p15:clr>
        </p15:guide>
        <p15:guide id="5" pos="374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A4126AA-40AA-495C-8D76-F601D0DB7661}">
  <a:tblStyle styleId="{0A4126AA-40AA-495C-8D76-F601D0DB766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3B5B441B-72FE-49E2-B34B-7864A7B42951}"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5556"/>
        <p:guide pos="227"/>
        <p:guide pos="1950"/>
        <p:guide pos="3742"/>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Dosis-bold.fntdata"/><Relationship Id="rId21" Type="http://schemas.openxmlformats.org/officeDocument/2006/relationships/font" Target="fonts/Dosis-regular.fntdata"/><Relationship Id="rId24" Type="http://schemas.openxmlformats.org/officeDocument/2006/relationships/font" Target="fonts/JuraSemiBold-bold.fntdata"/><Relationship Id="rId23" Type="http://schemas.openxmlformats.org/officeDocument/2006/relationships/font" Target="fonts/JuraSemiBold-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ArialNarrow-bold.fntdata"/><Relationship Id="rId25" Type="http://schemas.openxmlformats.org/officeDocument/2006/relationships/font" Target="fonts/ArialNarrow-regular.fntdata"/><Relationship Id="rId28" Type="http://schemas.openxmlformats.org/officeDocument/2006/relationships/font" Target="fonts/ArialNarrow-boldItalic.fntdata"/><Relationship Id="rId27" Type="http://schemas.openxmlformats.org/officeDocument/2006/relationships/font" Target="fonts/ArialNarrow-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Jura-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Mono-regular.fntdata"/><Relationship Id="rId30" Type="http://schemas.openxmlformats.org/officeDocument/2006/relationships/font" Target="fonts/Jura-bold.fntdata"/><Relationship Id="rId11" Type="http://schemas.openxmlformats.org/officeDocument/2006/relationships/slide" Target="slides/slide5.xml"/><Relationship Id="rId33" Type="http://schemas.openxmlformats.org/officeDocument/2006/relationships/font" Target="fonts/RobotoMono-italic.fntdata"/><Relationship Id="rId10" Type="http://schemas.openxmlformats.org/officeDocument/2006/relationships/slide" Target="slides/slide4.xml"/><Relationship Id="rId32" Type="http://schemas.openxmlformats.org/officeDocument/2006/relationships/font" Target="fonts/RobotoMono-bold.fntdata"/><Relationship Id="rId13" Type="http://schemas.openxmlformats.org/officeDocument/2006/relationships/slide" Target="slides/slide7.xml"/><Relationship Id="rId35" Type="http://schemas.openxmlformats.org/officeDocument/2006/relationships/font" Target="fonts/Rajdhani-regular.fntdata"/><Relationship Id="rId12" Type="http://schemas.openxmlformats.org/officeDocument/2006/relationships/slide" Target="slides/slide6.xml"/><Relationship Id="rId34" Type="http://schemas.openxmlformats.org/officeDocument/2006/relationships/font" Target="fonts/RobotoMono-boldItalic.fntdata"/><Relationship Id="rId15" Type="http://schemas.openxmlformats.org/officeDocument/2006/relationships/slide" Target="slides/slide9.xml"/><Relationship Id="rId14" Type="http://schemas.openxmlformats.org/officeDocument/2006/relationships/slide" Target="slides/slide8.xml"/><Relationship Id="rId36" Type="http://schemas.openxmlformats.org/officeDocument/2006/relationships/font" Target="fonts/Rajdhani-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fe843035f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fe843035f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2fe843035ff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2fe843035ff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488521208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488521208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0f100bb9f2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0f100bb9f2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491b00417d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491b00417d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491b00417d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491b00417d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0f100bb9f2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0f100bb9f2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49617d7ca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49617d7ca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49617d7ca4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49617d7ca4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ff9d4d388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ff9d4d388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491b00417d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491b00417d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0f100bb9f2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0f100bb9f2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0f100bb9f2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0f100bb9f2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f20704bb59_0_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gf20704bb59_0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t"/>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docs.google.com/document/u/0/d/1p0JRU43Q01l2jQkXusxxliDeEB4D2Ae5QEPLjaUyo0Y/edit"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drive.google.com/file/d/1zNmpbMYQxq2VuHk2DkQpMnlAhaASV0SO/view?usp=drive_link" TargetMode="External"/><Relationship Id="rId4" Type="http://schemas.openxmlformats.org/officeDocument/2006/relationships/hyperlink" Target="https://drive.google.com/file/d/1DlLdv8t_Pfg8OF7NqVzBSNVw9y3x7iJ0/view?usp=drive_link"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docs.google.com/document/d/1p0JRU43Q01l2jQkXusxxliDeEB4D2Ae5QEPLjaUyo0Y/edit?tab=t.0"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docs.google.com/document/d/1p0JRU43Q01l2jQkXusxxliDeEB4D2Ae5QEPLjaUyo0Y/edit?tab=t.0"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docs.google.com/spreadsheets/u/0/d/1xFIBtKNfOwUgWNNR2Y49PipLrhqyg6AiBHjPAEKAnyI/edit"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drive.google.com/file/d/1xe8ykSVnk22hh--tkP64qFJ9aeHfOL12/view" TargetMode="External"/><Relationship Id="rId4" Type="http://schemas.openxmlformats.org/officeDocument/2006/relationships/image" Target="../media/image5.jpg"/><Relationship Id="rId5" Type="http://schemas.openxmlformats.org/officeDocument/2006/relationships/hyperlink" Target="http://drive.google.com/file/d/1AN6wdMCnmz0DWPjVgufgpVaeZf6d09FR/view" TargetMode="External"/><Relationship Id="rId6" Type="http://schemas.openxmlformats.org/officeDocument/2006/relationships/image" Target="../media/image3.jpg"/><Relationship Id="rId7" Type="http://schemas.openxmlformats.org/officeDocument/2006/relationships/hyperlink" Target="http://drive.google.com/file/d/1o_AbaJMPkKY0ad2BOPY0bk3oXUjg29US/view" TargetMode="External"/><Relationship Id="rId8"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4.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p:nvPr/>
        </p:nvSpPr>
        <p:spPr>
          <a:xfrm>
            <a:off x="0" y="0"/>
            <a:ext cx="4572000" cy="5143500"/>
          </a:xfrm>
          <a:prstGeom prst="roundRect">
            <a:avLst>
              <a:gd fmla="val 0" name="adj"/>
            </a:avLst>
          </a:prstGeom>
          <a:solidFill>
            <a:srgbClr val="003A65"/>
          </a:solid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b="1" lang="it" sz="3000">
                <a:solidFill>
                  <a:schemeClr val="lt1"/>
                </a:solidFill>
                <a:latin typeface="Rajdhani"/>
                <a:ea typeface="Rajdhani"/>
                <a:cs typeface="Rajdhani"/>
                <a:sym typeface="Rajdhani"/>
              </a:rPr>
              <a:t>INSTITUTI “HARRY T. FULTZ”</a:t>
            </a:r>
            <a:endParaRPr b="1" sz="3000">
              <a:solidFill>
                <a:schemeClr val="lt1"/>
              </a:solidFill>
              <a:latin typeface="Rajdhani"/>
              <a:ea typeface="Rajdhani"/>
              <a:cs typeface="Rajdhani"/>
              <a:sym typeface="Rajdhani"/>
            </a:endParaRPr>
          </a:p>
          <a:p>
            <a:pPr indent="0" lvl="0" marL="0" rtl="0" algn="l">
              <a:lnSpc>
                <a:spcPct val="90000"/>
              </a:lnSpc>
              <a:spcBef>
                <a:spcPts val="0"/>
              </a:spcBef>
              <a:spcAft>
                <a:spcPts val="0"/>
              </a:spcAft>
              <a:buClr>
                <a:schemeClr val="dk1"/>
              </a:buClr>
              <a:buSzPts val="1100"/>
              <a:buFont typeface="Arial"/>
              <a:buNone/>
            </a:pPr>
            <a:r>
              <a:rPr lang="it" sz="2800">
                <a:solidFill>
                  <a:schemeClr val="lt1"/>
                </a:solidFill>
                <a:latin typeface="Rajdhani"/>
                <a:ea typeface="Rajdhani"/>
                <a:cs typeface="Rajdhani"/>
                <a:sym typeface="Rajdhani"/>
              </a:rPr>
              <a:t>SHKOLLË E MESME </a:t>
            </a:r>
            <a:endParaRPr sz="2800">
              <a:solidFill>
                <a:schemeClr val="lt1"/>
              </a:solidFill>
              <a:latin typeface="Rajdhani"/>
              <a:ea typeface="Rajdhani"/>
              <a:cs typeface="Rajdhani"/>
              <a:sym typeface="Rajdhani"/>
            </a:endParaRPr>
          </a:p>
          <a:p>
            <a:pPr indent="0" lvl="0" marL="0" rtl="0" algn="l">
              <a:lnSpc>
                <a:spcPct val="90000"/>
              </a:lnSpc>
              <a:spcBef>
                <a:spcPts val="0"/>
              </a:spcBef>
              <a:spcAft>
                <a:spcPts val="0"/>
              </a:spcAft>
              <a:buClr>
                <a:schemeClr val="dk1"/>
              </a:buClr>
              <a:buSzPts val="1100"/>
              <a:buFont typeface="Arial"/>
              <a:buNone/>
            </a:pPr>
            <a:r>
              <a:rPr lang="it" sz="2800">
                <a:solidFill>
                  <a:schemeClr val="lt1"/>
                </a:solidFill>
                <a:latin typeface="Rajdhani"/>
                <a:ea typeface="Rajdhani"/>
                <a:cs typeface="Rajdhani"/>
                <a:sym typeface="Rajdhani"/>
              </a:rPr>
              <a:t>TRADITA E EKSELENCËS</a:t>
            </a:r>
            <a:endParaRPr sz="2900">
              <a:solidFill>
                <a:schemeClr val="lt1"/>
              </a:solidFill>
              <a:latin typeface="Rajdhani"/>
              <a:ea typeface="Rajdhani"/>
              <a:cs typeface="Rajdhani"/>
              <a:sym typeface="Rajdhani"/>
            </a:endParaRPr>
          </a:p>
          <a:p>
            <a:pPr indent="0" lvl="0" marL="0" rtl="0" algn="ctr">
              <a:spcBef>
                <a:spcPts val="0"/>
              </a:spcBef>
              <a:spcAft>
                <a:spcPts val="0"/>
              </a:spcAft>
              <a:buNone/>
            </a:pPr>
            <a:r>
              <a:t/>
            </a:r>
            <a:endParaRPr>
              <a:solidFill>
                <a:schemeClr val="lt1"/>
              </a:solidFill>
              <a:latin typeface="Jura"/>
              <a:ea typeface="Jura"/>
              <a:cs typeface="Jura"/>
              <a:sym typeface="Jura"/>
            </a:endParaRPr>
          </a:p>
          <a:p>
            <a:pPr indent="0" lvl="0" marL="0" rtl="0" algn="ctr">
              <a:spcBef>
                <a:spcPts val="0"/>
              </a:spcBef>
              <a:spcAft>
                <a:spcPts val="0"/>
              </a:spcAft>
              <a:buNone/>
            </a:pPr>
            <a:r>
              <a:t/>
            </a:r>
            <a:endParaRPr>
              <a:solidFill>
                <a:schemeClr val="lt1"/>
              </a:solidFill>
              <a:latin typeface="Jura"/>
              <a:ea typeface="Jura"/>
              <a:cs typeface="Jura"/>
              <a:sym typeface="Jura"/>
            </a:endParaRPr>
          </a:p>
          <a:p>
            <a:pPr indent="0" lvl="0" marL="0" rtl="0" algn="ctr">
              <a:spcBef>
                <a:spcPts val="0"/>
              </a:spcBef>
              <a:spcAft>
                <a:spcPts val="0"/>
              </a:spcAft>
              <a:buNone/>
            </a:pPr>
            <a:r>
              <a:rPr lang="it" sz="1700">
                <a:solidFill>
                  <a:schemeClr val="lt1"/>
                </a:solidFill>
                <a:latin typeface="Rajdhani"/>
                <a:ea typeface="Rajdhani"/>
                <a:cs typeface="Rajdhani"/>
                <a:sym typeface="Rajdhani"/>
              </a:rPr>
              <a:t>DEPARTAMENTI ELEKTRONIKË</a:t>
            </a:r>
            <a:endParaRPr sz="3700">
              <a:solidFill>
                <a:schemeClr val="lt1"/>
              </a:solidFill>
              <a:latin typeface="Rajdhani"/>
              <a:ea typeface="Rajdhani"/>
              <a:cs typeface="Rajdhani"/>
              <a:sym typeface="Rajdhani"/>
            </a:endParaRPr>
          </a:p>
          <a:p>
            <a:pPr indent="0" lvl="0" marL="0" rtl="0" algn="ctr">
              <a:spcBef>
                <a:spcPts val="0"/>
              </a:spcBef>
              <a:spcAft>
                <a:spcPts val="0"/>
              </a:spcAft>
              <a:buNone/>
            </a:pPr>
            <a:r>
              <a:t/>
            </a:r>
            <a:endParaRPr sz="3700">
              <a:solidFill>
                <a:schemeClr val="lt1"/>
              </a:solidFill>
              <a:latin typeface="Rajdhani"/>
              <a:ea typeface="Rajdhani"/>
              <a:cs typeface="Rajdhani"/>
              <a:sym typeface="Rajdhani"/>
            </a:endParaRPr>
          </a:p>
          <a:p>
            <a:pPr indent="0" lvl="0" marL="0" rtl="0" algn="ctr">
              <a:spcBef>
                <a:spcPts val="0"/>
              </a:spcBef>
              <a:spcAft>
                <a:spcPts val="0"/>
              </a:spcAft>
              <a:buNone/>
            </a:pPr>
            <a:r>
              <a:t/>
            </a:r>
            <a:endParaRPr sz="2400">
              <a:solidFill>
                <a:schemeClr val="lt1"/>
              </a:solidFill>
              <a:latin typeface="Rajdhani"/>
              <a:ea typeface="Rajdhani"/>
              <a:cs typeface="Rajdhani"/>
              <a:sym typeface="Rajdhani"/>
            </a:endParaRPr>
          </a:p>
          <a:p>
            <a:pPr indent="0" lvl="0" marL="0" rtl="0" algn="ctr">
              <a:spcBef>
                <a:spcPts val="0"/>
              </a:spcBef>
              <a:spcAft>
                <a:spcPts val="0"/>
              </a:spcAft>
              <a:buNone/>
            </a:pPr>
            <a:r>
              <a:rPr lang="it" sz="1300">
                <a:solidFill>
                  <a:schemeClr val="lt1"/>
                </a:solidFill>
                <a:latin typeface="Rajdhani"/>
                <a:ea typeface="Rajdhani"/>
                <a:cs typeface="Rajdhani"/>
                <a:sym typeface="Rajdhani"/>
              </a:rPr>
              <a:t>VITI AKADEMIK</a:t>
            </a:r>
            <a:endParaRPr sz="1300">
              <a:solidFill>
                <a:schemeClr val="lt1"/>
              </a:solidFill>
              <a:latin typeface="Rajdhani"/>
              <a:ea typeface="Rajdhani"/>
              <a:cs typeface="Rajdhani"/>
              <a:sym typeface="Rajdhani"/>
            </a:endParaRPr>
          </a:p>
          <a:p>
            <a:pPr indent="0" lvl="0" marL="0" rtl="0" algn="ctr">
              <a:spcBef>
                <a:spcPts val="0"/>
              </a:spcBef>
              <a:spcAft>
                <a:spcPts val="0"/>
              </a:spcAft>
              <a:buNone/>
            </a:pPr>
            <a:r>
              <a:rPr lang="it" sz="1700">
                <a:solidFill>
                  <a:schemeClr val="lt1"/>
                </a:solidFill>
                <a:latin typeface="Rajdhani"/>
                <a:ea typeface="Rajdhani"/>
                <a:cs typeface="Rajdhani"/>
                <a:sym typeface="Rajdhani"/>
              </a:rPr>
              <a:t>2024-2025</a:t>
            </a:r>
            <a:endParaRPr sz="1700">
              <a:solidFill>
                <a:schemeClr val="lt1"/>
              </a:solidFill>
              <a:latin typeface="Rajdhani"/>
              <a:ea typeface="Rajdhani"/>
              <a:cs typeface="Rajdhani"/>
              <a:sym typeface="Rajdhani"/>
            </a:endParaRPr>
          </a:p>
          <a:p>
            <a:pPr indent="0" lvl="0" marL="0" rtl="0" algn="l">
              <a:spcBef>
                <a:spcPts val="0"/>
              </a:spcBef>
              <a:spcAft>
                <a:spcPts val="0"/>
              </a:spcAft>
              <a:buNone/>
            </a:pPr>
            <a:r>
              <a:t/>
            </a:r>
            <a:endParaRPr sz="1700">
              <a:solidFill>
                <a:schemeClr val="lt1"/>
              </a:solidFill>
              <a:latin typeface="Rajdhani"/>
              <a:ea typeface="Rajdhani"/>
              <a:cs typeface="Rajdhani"/>
              <a:sym typeface="Rajdhani"/>
            </a:endParaRPr>
          </a:p>
        </p:txBody>
      </p:sp>
      <p:graphicFrame>
        <p:nvGraphicFramePr>
          <p:cNvPr id="55" name="Google Shape;55;p13"/>
          <p:cNvGraphicFramePr/>
          <p:nvPr/>
        </p:nvGraphicFramePr>
        <p:xfrm>
          <a:off x="4572000" y="3025"/>
          <a:ext cx="3000000" cy="3000000"/>
        </p:xfrm>
        <a:graphic>
          <a:graphicData uri="http://schemas.openxmlformats.org/drawingml/2006/table">
            <a:tbl>
              <a:tblPr>
                <a:noFill/>
                <a:tableStyleId>{0A4126AA-40AA-495C-8D76-F601D0DB7661}</a:tableStyleId>
              </a:tblPr>
              <a:tblGrid>
                <a:gridCol w="675225"/>
                <a:gridCol w="1819425"/>
                <a:gridCol w="2077325"/>
              </a:tblGrid>
              <a:tr h="1120600">
                <a:tc gridSpan="3">
                  <a:txBody>
                    <a:bodyPr/>
                    <a:lstStyle/>
                    <a:p>
                      <a:pPr indent="0" lvl="0" marL="0" rtl="0" algn="ctr">
                        <a:spcBef>
                          <a:spcPts val="0"/>
                        </a:spcBef>
                        <a:spcAft>
                          <a:spcPts val="0"/>
                        </a:spcAft>
                        <a:buNone/>
                      </a:pPr>
                      <a:r>
                        <a:t/>
                      </a:r>
                      <a:endParaRPr>
                        <a:solidFill>
                          <a:schemeClr val="dk1"/>
                        </a:solidFill>
                        <a:latin typeface="Jura"/>
                        <a:ea typeface="Jura"/>
                        <a:cs typeface="Jura"/>
                        <a:sym typeface="Jura"/>
                      </a:endParaRPr>
                    </a:p>
                    <a:p>
                      <a:pPr indent="0" lvl="0" marL="0" rtl="0" algn="ctr">
                        <a:spcBef>
                          <a:spcPts val="0"/>
                        </a:spcBef>
                        <a:spcAft>
                          <a:spcPts val="0"/>
                        </a:spcAft>
                        <a:buNone/>
                      </a:pPr>
                      <a:r>
                        <a:rPr lang="it" sz="3000">
                          <a:solidFill>
                            <a:schemeClr val="dk1"/>
                          </a:solidFill>
                          <a:latin typeface="Jura"/>
                          <a:ea typeface="Jura"/>
                          <a:cs typeface="Jura"/>
                          <a:sym typeface="Jura"/>
                        </a:rPr>
                        <a:t>TEMA</a:t>
                      </a:r>
                      <a:endParaRPr sz="3000">
                        <a:solidFill>
                          <a:schemeClr val="dk1"/>
                        </a:solidFill>
                        <a:latin typeface="Jura"/>
                        <a:ea typeface="Jura"/>
                        <a:cs typeface="Jura"/>
                        <a:sym typeface="Jura"/>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hMerge="1"/>
              </a:tr>
              <a:tr h="778350">
                <a:tc gridSpan="3">
                  <a:txBody>
                    <a:bodyPr/>
                    <a:lstStyle/>
                    <a:p>
                      <a:pPr indent="0" lvl="0" marL="0" rtl="0" algn="ctr">
                        <a:spcBef>
                          <a:spcPts val="0"/>
                        </a:spcBef>
                        <a:spcAft>
                          <a:spcPts val="0"/>
                        </a:spcAft>
                        <a:buNone/>
                      </a:pPr>
                      <a:r>
                        <a:rPr lang="it" sz="3000">
                          <a:solidFill>
                            <a:schemeClr val="dk1"/>
                          </a:solidFill>
                          <a:latin typeface="Jura"/>
                          <a:ea typeface="Jura"/>
                          <a:cs typeface="Jura"/>
                          <a:sym typeface="Jura"/>
                        </a:rPr>
                        <a:t>“</a:t>
                      </a:r>
                      <a:r>
                        <a:rPr lang="it" sz="3000">
                          <a:solidFill>
                            <a:srgbClr val="353744"/>
                          </a:solidFill>
                          <a:latin typeface="Jura SemiBold"/>
                          <a:ea typeface="Jura SemiBold"/>
                          <a:cs typeface="Jura SemiBold"/>
                          <a:sym typeface="Jura SemiBold"/>
                        </a:rPr>
                        <a:t>Mates Smart i Energjise</a:t>
                      </a:r>
                      <a:r>
                        <a:rPr lang="it" sz="3000">
                          <a:solidFill>
                            <a:schemeClr val="dk1"/>
                          </a:solidFill>
                          <a:latin typeface="Jura"/>
                          <a:ea typeface="Jura"/>
                          <a:cs typeface="Jura"/>
                          <a:sym typeface="Jura"/>
                        </a:rPr>
                        <a:t>”</a:t>
                      </a:r>
                      <a:endParaRPr sz="3000">
                        <a:solidFill>
                          <a:schemeClr val="dk1"/>
                        </a:solidFill>
                        <a:latin typeface="Jura"/>
                        <a:ea typeface="Jura"/>
                        <a:cs typeface="Jura"/>
                        <a:sym typeface="Jura"/>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hMerge="1"/>
              </a:tr>
              <a:tr h="401650">
                <a:tc>
                  <a:txBody>
                    <a:bodyPr/>
                    <a:lstStyle/>
                    <a:p>
                      <a:pPr indent="0" lvl="0" marL="0" rtl="0" algn="l">
                        <a:spcBef>
                          <a:spcPts val="0"/>
                        </a:spcBef>
                        <a:spcAft>
                          <a:spcPts val="0"/>
                        </a:spcAft>
                        <a:buClr>
                          <a:schemeClr val="dk1"/>
                        </a:buClr>
                        <a:buSzPts val="1100"/>
                        <a:buFont typeface="Arial"/>
                        <a:buNone/>
                      </a:pPr>
                      <a:r>
                        <a:rPr b="1" lang="it" sz="1200">
                          <a:solidFill>
                            <a:schemeClr val="dk1"/>
                          </a:solidFill>
                          <a:latin typeface="Jura"/>
                          <a:ea typeface="Jura"/>
                          <a:cs typeface="Jura"/>
                          <a:sym typeface="Jura"/>
                        </a:rPr>
                        <a:t>KLASA</a:t>
                      </a:r>
                      <a:endParaRPr b="1" sz="1200">
                        <a:solidFill>
                          <a:schemeClr val="dk1"/>
                        </a:solidFill>
                        <a:latin typeface="Jura"/>
                        <a:ea typeface="Jura"/>
                        <a:cs typeface="Jura"/>
                        <a:sym typeface="Jura"/>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D9D9D9"/>
                    </a:solidFill>
                  </a:tcPr>
                </a:tc>
                <a:tc>
                  <a:txBody>
                    <a:bodyPr/>
                    <a:lstStyle/>
                    <a:p>
                      <a:pPr indent="0" lvl="0" marL="0" rtl="0" algn="l">
                        <a:spcBef>
                          <a:spcPts val="0"/>
                        </a:spcBef>
                        <a:spcAft>
                          <a:spcPts val="0"/>
                        </a:spcAft>
                        <a:buNone/>
                      </a:pPr>
                      <a:r>
                        <a:rPr b="1" lang="it" sz="1200">
                          <a:solidFill>
                            <a:schemeClr val="dk1"/>
                          </a:solidFill>
                          <a:latin typeface="Jura"/>
                          <a:ea typeface="Jura"/>
                          <a:cs typeface="Jura"/>
                          <a:sym typeface="Jura"/>
                        </a:rPr>
                        <a:t>LËNDA</a:t>
                      </a:r>
                      <a:endParaRPr b="1" sz="1200">
                        <a:latin typeface="Jura"/>
                        <a:ea typeface="Jura"/>
                        <a:cs typeface="Jura"/>
                        <a:sym typeface="Jura"/>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D9D9D9"/>
                    </a:solidFill>
                  </a:tcPr>
                </a:tc>
                <a:tc>
                  <a:txBody>
                    <a:bodyPr/>
                    <a:lstStyle/>
                    <a:p>
                      <a:pPr indent="0" lvl="0" marL="0" rtl="0" algn="l">
                        <a:spcBef>
                          <a:spcPts val="0"/>
                        </a:spcBef>
                        <a:spcAft>
                          <a:spcPts val="0"/>
                        </a:spcAft>
                        <a:buNone/>
                      </a:pPr>
                      <a:r>
                        <a:rPr b="1" lang="it" sz="1200">
                          <a:latin typeface="Jura"/>
                          <a:ea typeface="Jura"/>
                          <a:cs typeface="Jura"/>
                          <a:sym typeface="Jura"/>
                        </a:rPr>
                        <a:t>MËSUES</a:t>
                      </a:r>
                      <a:endParaRPr b="1" sz="1200">
                        <a:latin typeface="Jura"/>
                        <a:ea typeface="Jura"/>
                        <a:cs typeface="Jura"/>
                        <a:sym typeface="Jura"/>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D9D9D9"/>
                    </a:solidFill>
                  </a:tcPr>
                </a:tc>
              </a:tr>
              <a:tr h="403750">
                <a:tc>
                  <a:txBody>
                    <a:bodyPr/>
                    <a:lstStyle/>
                    <a:p>
                      <a:pPr indent="0" lvl="0" marL="0" rtl="0" algn="l">
                        <a:spcBef>
                          <a:spcPts val="0"/>
                        </a:spcBef>
                        <a:spcAft>
                          <a:spcPts val="0"/>
                        </a:spcAft>
                        <a:buNone/>
                      </a:pPr>
                      <a:r>
                        <a:rPr lang="it" sz="1200">
                          <a:solidFill>
                            <a:schemeClr val="dk1"/>
                          </a:solidFill>
                          <a:latin typeface="Jura"/>
                          <a:ea typeface="Jura"/>
                          <a:cs typeface="Jura"/>
                          <a:sym typeface="Jura"/>
                        </a:rPr>
                        <a:t>XIII-</a:t>
                      </a:r>
                      <a:endParaRPr sz="1200">
                        <a:solidFill>
                          <a:schemeClr val="dk1"/>
                        </a:solidFill>
                        <a:latin typeface="Jura"/>
                        <a:ea typeface="Jura"/>
                        <a:cs typeface="Jura"/>
                        <a:sym typeface="Jura"/>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it" sz="1200">
                          <a:solidFill>
                            <a:schemeClr val="dk1"/>
                          </a:solidFill>
                          <a:latin typeface="Jura"/>
                          <a:ea typeface="Jura"/>
                          <a:cs typeface="Jura"/>
                          <a:sym typeface="Jura"/>
                        </a:rPr>
                        <a:t>Matje elektronike</a:t>
                      </a:r>
                      <a:endParaRPr sz="1200">
                        <a:solidFill>
                          <a:schemeClr val="dk1"/>
                        </a:solidFill>
                        <a:latin typeface="Jura"/>
                        <a:ea typeface="Jura"/>
                        <a:cs typeface="Jura"/>
                        <a:sym typeface="Jura"/>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it" sz="1200">
                          <a:latin typeface="Jura"/>
                          <a:ea typeface="Jura"/>
                          <a:cs typeface="Jura"/>
                          <a:sym typeface="Jura"/>
                        </a:rPr>
                        <a:t>Jurgen Metalla</a:t>
                      </a:r>
                      <a:endParaRPr sz="1200">
                        <a:latin typeface="Jura"/>
                        <a:ea typeface="Jura"/>
                        <a:cs typeface="Jura"/>
                        <a:sym typeface="Jura"/>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03750">
                <a:tc>
                  <a:txBody>
                    <a:bodyPr/>
                    <a:lstStyle/>
                    <a:p>
                      <a:pPr indent="0" lvl="0" marL="0" rtl="0" algn="l">
                        <a:spcBef>
                          <a:spcPts val="0"/>
                        </a:spcBef>
                        <a:spcAft>
                          <a:spcPts val="0"/>
                        </a:spcAft>
                        <a:buNone/>
                      </a:pPr>
                      <a:r>
                        <a:t/>
                      </a:r>
                      <a:endParaRPr sz="1200">
                        <a:latin typeface="Jura"/>
                        <a:ea typeface="Jura"/>
                        <a:cs typeface="Jura"/>
                        <a:sym typeface="Jura"/>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1200">
                        <a:latin typeface="Jura"/>
                        <a:ea typeface="Jura"/>
                        <a:cs typeface="Jura"/>
                        <a:sym typeface="Jura"/>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it" sz="1200">
                          <a:solidFill>
                            <a:schemeClr val="dk1"/>
                          </a:solidFill>
                          <a:latin typeface="Jura"/>
                          <a:ea typeface="Jura"/>
                          <a:cs typeface="Jura"/>
                          <a:sym typeface="Jura"/>
                        </a:rPr>
                        <a:t>NXËNËS</a:t>
                      </a:r>
                      <a:endParaRPr sz="1200">
                        <a:solidFill>
                          <a:schemeClr val="dk1"/>
                        </a:solidFill>
                        <a:latin typeface="Jura"/>
                        <a:ea typeface="Jura"/>
                        <a:cs typeface="Jura"/>
                        <a:sym typeface="Jura"/>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2"/>
                    </a:solidFill>
                  </a:tcPr>
                </a:tc>
              </a:tr>
              <a:tr h="407075">
                <a:tc>
                  <a:txBody>
                    <a:bodyPr/>
                    <a:lstStyle/>
                    <a:p>
                      <a:pPr indent="0" lvl="0" marL="0" rtl="0" algn="l">
                        <a:spcBef>
                          <a:spcPts val="0"/>
                        </a:spcBef>
                        <a:spcAft>
                          <a:spcPts val="0"/>
                        </a:spcAft>
                        <a:buNone/>
                      </a:pPr>
                      <a:r>
                        <a:t/>
                      </a:r>
                      <a:endParaRPr sz="1300">
                        <a:solidFill>
                          <a:schemeClr val="dk1"/>
                        </a:solidFill>
                        <a:latin typeface="Jura"/>
                        <a:ea typeface="Jura"/>
                        <a:cs typeface="Jura"/>
                        <a:sym typeface="Jura"/>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300">
                        <a:latin typeface="Jura"/>
                        <a:ea typeface="Jura"/>
                        <a:cs typeface="Jura"/>
                        <a:sym typeface="Jura"/>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it" sz="1200">
                          <a:solidFill>
                            <a:schemeClr val="dk1"/>
                          </a:solidFill>
                          <a:latin typeface="Jura"/>
                          <a:ea typeface="Jura"/>
                          <a:cs typeface="Jura"/>
                          <a:sym typeface="Jura"/>
                        </a:rPr>
                        <a:t>Bjornis Kaso</a:t>
                      </a:r>
                      <a:endParaRPr sz="1200">
                        <a:solidFill>
                          <a:schemeClr val="dk1"/>
                        </a:solidFill>
                        <a:latin typeface="Jura"/>
                        <a:ea typeface="Jura"/>
                        <a:cs typeface="Jura"/>
                        <a:sym typeface="Jura"/>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07075">
                <a:tc>
                  <a:txBody>
                    <a:bodyPr/>
                    <a:lstStyle/>
                    <a:p>
                      <a:pPr indent="0" lvl="0" marL="0" rtl="0" algn="l">
                        <a:spcBef>
                          <a:spcPts val="0"/>
                        </a:spcBef>
                        <a:spcAft>
                          <a:spcPts val="0"/>
                        </a:spcAft>
                        <a:buNone/>
                      </a:pPr>
                      <a:r>
                        <a:t/>
                      </a:r>
                      <a:endParaRPr sz="1200">
                        <a:solidFill>
                          <a:schemeClr val="dk1"/>
                        </a:solidFill>
                        <a:latin typeface="Jura"/>
                        <a:ea typeface="Jura"/>
                        <a:cs typeface="Jura"/>
                        <a:sym typeface="Jura"/>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200">
                        <a:latin typeface="Jura"/>
                        <a:ea typeface="Jura"/>
                        <a:cs typeface="Jura"/>
                        <a:sym typeface="Jura"/>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07075">
                <a:tc>
                  <a:txBody>
                    <a:bodyPr/>
                    <a:lstStyle/>
                    <a:p>
                      <a:pPr indent="0" lvl="0" marL="0" rtl="0" algn="l">
                        <a:spcBef>
                          <a:spcPts val="0"/>
                        </a:spcBef>
                        <a:spcAft>
                          <a:spcPts val="0"/>
                        </a:spcAft>
                        <a:buNone/>
                      </a:pPr>
                      <a:r>
                        <a:t/>
                      </a:r>
                      <a:endParaRPr sz="1200">
                        <a:solidFill>
                          <a:schemeClr val="dk1"/>
                        </a:solidFill>
                        <a:latin typeface="Jura"/>
                        <a:ea typeface="Jura"/>
                        <a:cs typeface="Jura"/>
                        <a:sym typeface="Jura"/>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200">
                        <a:latin typeface="Jura"/>
                        <a:ea typeface="Jura"/>
                        <a:cs typeface="Jura"/>
                        <a:sym typeface="Jura"/>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07075">
                <a:tc>
                  <a:txBody>
                    <a:bodyPr/>
                    <a:lstStyle/>
                    <a:p>
                      <a:pPr indent="0" lvl="0" marL="0" rtl="0" algn="l">
                        <a:spcBef>
                          <a:spcPts val="0"/>
                        </a:spcBef>
                        <a:spcAft>
                          <a:spcPts val="0"/>
                        </a:spcAft>
                        <a:buNone/>
                      </a:pPr>
                      <a:r>
                        <a:t/>
                      </a:r>
                      <a:endParaRPr sz="1200">
                        <a:solidFill>
                          <a:schemeClr val="dk1"/>
                        </a:solidFill>
                        <a:latin typeface="Jura"/>
                        <a:ea typeface="Jura"/>
                        <a:cs typeface="Jura"/>
                        <a:sym typeface="Jura"/>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200">
                        <a:latin typeface="Jura"/>
                        <a:ea typeface="Jura"/>
                        <a:cs typeface="Jura"/>
                        <a:sym typeface="Jura"/>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07075">
                <a:tc>
                  <a:txBody>
                    <a:bodyPr/>
                    <a:lstStyle/>
                    <a:p>
                      <a:pPr indent="0" lvl="0" marL="0" rtl="0" algn="l">
                        <a:spcBef>
                          <a:spcPts val="0"/>
                        </a:spcBef>
                        <a:spcAft>
                          <a:spcPts val="0"/>
                        </a:spcAft>
                        <a:buNone/>
                      </a:pPr>
                      <a:r>
                        <a:t/>
                      </a:r>
                      <a:endParaRPr sz="1200">
                        <a:solidFill>
                          <a:schemeClr val="dk1"/>
                        </a:solidFill>
                        <a:latin typeface="Jura"/>
                        <a:ea typeface="Jura"/>
                        <a:cs typeface="Jura"/>
                        <a:sym typeface="Jura"/>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200">
                        <a:latin typeface="Jura"/>
                        <a:ea typeface="Jura"/>
                        <a:cs typeface="Jura"/>
                        <a:sym typeface="Jura"/>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pic>
        <p:nvPicPr>
          <p:cNvPr id="56" name="Google Shape;56;p13"/>
          <p:cNvPicPr preferRelativeResize="0"/>
          <p:nvPr/>
        </p:nvPicPr>
        <p:blipFill rotWithShape="1">
          <a:blip r:embed="rId3">
            <a:alphaModFix amt="8000"/>
          </a:blip>
          <a:srcRect b="0" l="0" r="0" t="0"/>
          <a:stretch/>
        </p:blipFill>
        <p:spPr>
          <a:xfrm>
            <a:off x="551399" y="837200"/>
            <a:ext cx="3469225" cy="3469101"/>
          </a:xfrm>
          <a:prstGeom prst="rect">
            <a:avLst/>
          </a:prstGeom>
          <a:noFill/>
          <a:ln>
            <a:noFill/>
          </a:ln>
          <a:effectLst>
            <a:outerShdw blurRad="57150" rotWithShape="0" algn="bl" dir="5400000" dist="19050">
              <a:srgbClr val="000000">
                <a:alpha val="50000"/>
              </a:srgbClr>
            </a:outerShdw>
          </a:effectLst>
        </p:spPr>
      </p:pic>
      <p:sp>
        <p:nvSpPr>
          <p:cNvPr id="57" name="Google Shape;57;p13"/>
          <p:cNvSpPr txBox="1"/>
          <p:nvPr/>
        </p:nvSpPr>
        <p:spPr>
          <a:xfrm>
            <a:off x="786000" y="4812600"/>
            <a:ext cx="30000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it" sz="1000">
                <a:solidFill>
                  <a:schemeClr val="lt1"/>
                </a:solidFill>
                <a:latin typeface="Rajdhani"/>
                <a:ea typeface="Rajdhani"/>
                <a:cs typeface="Rajdhani"/>
                <a:sym typeface="Rajdhani"/>
              </a:rPr>
              <a:t>Ky material mund të përdoret si referencë.</a:t>
            </a:r>
            <a:endParaRPr i="1" sz="1000">
              <a:solidFill>
                <a:schemeClr val="lt1"/>
              </a:solidFill>
              <a:latin typeface="Rajdhani"/>
              <a:ea typeface="Rajdhani"/>
              <a:cs typeface="Rajdhani"/>
              <a:sym typeface="Rajdhani"/>
            </a:endParaRPr>
          </a:p>
        </p:txBody>
      </p:sp>
      <p:sp>
        <p:nvSpPr>
          <p:cNvPr id="58" name="Google Shape;58;p13"/>
          <p:cNvSpPr txBox="1"/>
          <p:nvPr/>
        </p:nvSpPr>
        <p:spPr>
          <a:xfrm>
            <a:off x="0" y="4835700"/>
            <a:ext cx="1121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800">
                <a:solidFill>
                  <a:schemeClr val="lt1"/>
                </a:solidFill>
                <a:latin typeface="Dosis"/>
                <a:ea typeface="Dosis"/>
                <a:cs typeface="Dosis"/>
                <a:sym typeface="Dosis"/>
              </a:rPr>
              <a:t>Rish. MPVx-A-2024-1</a:t>
            </a:r>
            <a:endParaRPr sz="800">
              <a:solidFill>
                <a:schemeClr val="lt1"/>
              </a:solidFill>
              <a:latin typeface="Dosis"/>
              <a:ea typeface="Dosis"/>
              <a:cs typeface="Dosis"/>
              <a:sym typeface="Dosi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2" name="Shape 62"/>
        <p:cNvGrpSpPr/>
        <p:nvPr/>
      </p:nvGrpSpPr>
      <p:grpSpPr>
        <a:xfrm>
          <a:off x="0" y="0"/>
          <a:ext cx="0" cy="0"/>
          <a:chOff x="0" y="0"/>
          <a:chExt cx="0" cy="0"/>
        </a:xfrm>
      </p:grpSpPr>
      <p:sp>
        <p:nvSpPr>
          <p:cNvPr id="63" name="Google Shape;63;p14"/>
          <p:cNvSpPr/>
          <p:nvPr/>
        </p:nvSpPr>
        <p:spPr>
          <a:xfrm>
            <a:off x="0" y="0"/>
            <a:ext cx="9144000" cy="307800"/>
          </a:xfrm>
          <a:prstGeom prst="roundRect">
            <a:avLst>
              <a:gd fmla="val 0" name="adj"/>
            </a:avLst>
          </a:prstGeom>
          <a:solidFill>
            <a:srgbClr val="003A65"/>
          </a:solid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b="1" lang="it" sz="1800">
                <a:solidFill>
                  <a:schemeClr val="lt1"/>
                </a:solidFill>
                <a:latin typeface="Rajdhani"/>
                <a:ea typeface="Rajdhani"/>
                <a:cs typeface="Rajdhani"/>
                <a:sym typeface="Rajdhani"/>
              </a:rPr>
              <a:t>HFI 2024-2025 										</a:t>
            </a:r>
            <a:r>
              <a:rPr lang="it" sz="1800">
                <a:solidFill>
                  <a:schemeClr val="lt1"/>
                </a:solidFill>
                <a:latin typeface="Rajdhani"/>
                <a:ea typeface="Rajdhani"/>
                <a:cs typeface="Rajdhani"/>
                <a:sym typeface="Rajdhani"/>
              </a:rPr>
              <a:t>DEPARTAMENTI ELEKTRONIKË</a:t>
            </a:r>
            <a:endParaRPr sz="1800">
              <a:solidFill>
                <a:schemeClr val="lt1"/>
              </a:solidFill>
              <a:latin typeface="Rajdhani"/>
              <a:ea typeface="Rajdhani"/>
              <a:cs typeface="Rajdhani"/>
              <a:sym typeface="Rajdhani"/>
            </a:endParaRPr>
          </a:p>
        </p:txBody>
      </p:sp>
      <p:sp>
        <p:nvSpPr>
          <p:cNvPr id="64" name="Google Shape;64;p14"/>
          <p:cNvSpPr txBox="1"/>
          <p:nvPr>
            <p:ph type="title"/>
          </p:nvPr>
        </p:nvSpPr>
        <p:spPr>
          <a:xfrm>
            <a:off x="311575"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t>ABSTRAKT</a:t>
            </a:r>
            <a:endParaRPr b="1"/>
          </a:p>
        </p:txBody>
      </p:sp>
      <p:sp>
        <p:nvSpPr>
          <p:cNvPr id="65" name="Google Shape;65;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solidFill>
                  <a:schemeClr val="dk1"/>
                </a:solidFill>
                <a:latin typeface="Arial Narrow"/>
                <a:ea typeface="Arial Narrow"/>
                <a:cs typeface="Arial Narrow"/>
                <a:sym typeface="Arial Narrow"/>
              </a:rPr>
              <a:t>Përshkrim i shkurtër në lidhje me temën ku do ti jepni përgjigje këtyre pyetjeve:</a:t>
            </a:r>
            <a:endParaRPr>
              <a:solidFill>
                <a:schemeClr val="dk1"/>
              </a:solidFill>
              <a:latin typeface="Arial Narrow"/>
              <a:ea typeface="Arial Narrow"/>
              <a:cs typeface="Arial Narrow"/>
              <a:sym typeface="Arial Narrow"/>
            </a:endParaRPr>
          </a:p>
          <a:p>
            <a:pPr indent="0" lvl="0" marL="0" rtl="0" algn="l">
              <a:spcBef>
                <a:spcPts val="0"/>
              </a:spcBef>
              <a:spcAft>
                <a:spcPts val="0"/>
              </a:spcAft>
              <a:buNone/>
            </a:pPr>
            <a:r>
              <a:rPr i="1" lang="it">
                <a:solidFill>
                  <a:schemeClr val="dk1"/>
                </a:solidFill>
                <a:latin typeface="Arial Narrow"/>
                <a:ea typeface="Arial Narrow"/>
                <a:cs typeface="Arial Narrow"/>
                <a:sym typeface="Arial Narrow"/>
              </a:rPr>
              <a:t>Këtu përfshini dhe njohuritë që mendoni të përdorni për çdo lëndë.</a:t>
            </a:r>
            <a:endParaRPr>
              <a:solidFill>
                <a:schemeClr val="dk1"/>
              </a:solidFill>
              <a:latin typeface="Arial Narrow"/>
              <a:ea typeface="Arial Narrow"/>
              <a:cs typeface="Arial Narrow"/>
              <a:sym typeface="Arial Narrow"/>
            </a:endParaRPr>
          </a:p>
          <a:p>
            <a:pPr indent="-342900" lvl="0" marL="457200" rtl="0" algn="l">
              <a:spcBef>
                <a:spcPts val="0"/>
              </a:spcBef>
              <a:spcAft>
                <a:spcPts val="0"/>
              </a:spcAft>
              <a:buClr>
                <a:schemeClr val="dk1"/>
              </a:buClr>
              <a:buSzPts val="1800"/>
              <a:buFont typeface="Arial Narrow"/>
              <a:buChar char="●"/>
            </a:pPr>
            <a:r>
              <a:rPr lang="it">
                <a:solidFill>
                  <a:schemeClr val="dk1"/>
                </a:solidFill>
                <a:latin typeface="Arial Narrow"/>
                <a:ea typeface="Arial Narrow"/>
                <a:cs typeface="Arial Narrow"/>
                <a:sym typeface="Arial Narrow"/>
              </a:rPr>
              <a:t>Përse u zgjodh kjo temë/ projekt</a:t>
            </a:r>
            <a:endParaRPr>
              <a:solidFill>
                <a:schemeClr val="dk1"/>
              </a:solidFill>
              <a:latin typeface="Arial Narrow"/>
              <a:ea typeface="Arial Narrow"/>
              <a:cs typeface="Arial Narrow"/>
              <a:sym typeface="Arial Narrow"/>
            </a:endParaRPr>
          </a:p>
          <a:p>
            <a:pPr indent="-342900" lvl="0" marL="457200" rtl="0" algn="l">
              <a:spcBef>
                <a:spcPts val="0"/>
              </a:spcBef>
              <a:spcAft>
                <a:spcPts val="0"/>
              </a:spcAft>
              <a:buClr>
                <a:schemeClr val="dk1"/>
              </a:buClr>
              <a:buSzPts val="1800"/>
              <a:buFont typeface="Arial Narrow"/>
              <a:buChar char="●"/>
            </a:pPr>
            <a:r>
              <a:rPr lang="it">
                <a:solidFill>
                  <a:schemeClr val="dk1"/>
                </a:solidFill>
                <a:latin typeface="Arial Narrow"/>
                <a:ea typeface="Arial Narrow"/>
                <a:cs typeface="Arial Narrow"/>
                <a:sym typeface="Arial Narrow"/>
              </a:rPr>
              <a:t>Cilat janë punimet e mëparshme mbi këtë temë/ projekt</a:t>
            </a:r>
            <a:endParaRPr>
              <a:solidFill>
                <a:schemeClr val="dk1"/>
              </a:solidFill>
              <a:latin typeface="Arial Narrow"/>
              <a:ea typeface="Arial Narrow"/>
              <a:cs typeface="Arial Narrow"/>
              <a:sym typeface="Arial Narrow"/>
            </a:endParaRPr>
          </a:p>
          <a:p>
            <a:pPr indent="-342900" lvl="0" marL="457200" rtl="0" algn="l">
              <a:spcBef>
                <a:spcPts val="0"/>
              </a:spcBef>
              <a:spcAft>
                <a:spcPts val="0"/>
              </a:spcAft>
              <a:buClr>
                <a:schemeClr val="dk1"/>
              </a:buClr>
              <a:buSzPts val="1800"/>
              <a:buFont typeface="Arial Narrow"/>
              <a:buChar char="●"/>
            </a:pPr>
            <a:r>
              <a:rPr lang="it">
                <a:solidFill>
                  <a:schemeClr val="dk1"/>
                </a:solidFill>
                <a:latin typeface="Arial Narrow"/>
                <a:ea typeface="Arial Narrow"/>
                <a:cs typeface="Arial Narrow"/>
                <a:sym typeface="Arial Narrow"/>
              </a:rPr>
              <a:t>Cilat janë objektivat e punës tuaj</a:t>
            </a:r>
            <a:endParaRPr>
              <a:solidFill>
                <a:schemeClr val="dk1"/>
              </a:solidFill>
              <a:latin typeface="Arial Narrow"/>
              <a:ea typeface="Arial Narrow"/>
              <a:cs typeface="Arial Narrow"/>
              <a:sym typeface="Arial Narrow"/>
            </a:endParaRPr>
          </a:p>
          <a:p>
            <a:pPr indent="-342900" lvl="0" marL="457200" rtl="0" algn="l">
              <a:spcBef>
                <a:spcPts val="0"/>
              </a:spcBef>
              <a:spcAft>
                <a:spcPts val="0"/>
              </a:spcAft>
              <a:buClr>
                <a:schemeClr val="dk1"/>
              </a:buClr>
              <a:buSzPts val="1800"/>
              <a:buFont typeface="Arial Narrow"/>
              <a:buChar char="●"/>
            </a:pPr>
            <a:r>
              <a:rPr lang="it">
                <a:solidFill>
                  <a:schemeClr val="dk1"/>
                </a:solidFill>
                <a:latin typeface="Arial Narrow"/>
                <a:ea typeface="Arial Narrow"/>
                <a:cs typeface="Arial Narrow"/>
                <a:sym typeface="Arial Narrow"/>
              </a:rPr>
              <a:t>Cilat janë gjetjet</a:t>
            </a:r>
            <a:endParaRPr>
              <a:solidFill>
                <a:schemeClr val="dk1"/>
              </a:solidFill>
              <a:latin typeface="Arial Narrow"/>
              <a:ea typeface="Arial Narrow"/>
              <a:cs typeface="Arial Narrow"/>
              <a:sym typeface="Arial Narrow"/>
            </a:endParaRPr>
          </a:p>
          <a:p>
            <a:pPr indent="-342900" lvl="0" marL="457200" rtl="0" algn="l">
              <a:spcBef>
                <a:spcPts val="0"/>
              </a:spcBef>
              <a:spcAft>
                <a:spcPts val="0"/>
              </a:spcAft>
              <a:buClr>
                <a:schemeClr val="dk1"/>
              </a:buClr>
              <a:buSzPts val="1800"/>
              <a:buFont typeface="Arial Narrow"/>
              <a:buChar char="●"/>
            </a:pPr>
            <a:r>
              <a:rPr lang="it">
                <a:solidFill>
                  <a:schemeClr val="dk1"/>
                </a:solidFill>
                <a:latin typeface="Arial Narrow"/>
                <a:ea typeface="Arial Narrow"/>
                <a:cs typeface="Arial Narrow"/>
                <a:sym typeface="Arial Narrow"/>
              </a:rPr>
              <a:t>Përfundimet.</a:t>
            </a:r>
            <a:endParaRPr>
              <a:solidFill>
                <a:schemeClr val="dk1"/>
              </a:solidFill>
              <a:latin typeface="Arial Narrow"/>
              <a:ea typeface="Arial Narrow"/>
              <a:cs typeface="Arial Narrow"/>
              <a:sym typeface="Arial Narrow"/>
            </a:endParaRPr>
          </a:p>
          <a:p>
            <a:pPr indent="0" lvl="0" marL="0" rtl="0" algn="l">
              <a:spcBef>
                <a:spcPts val="1600"/>
              </a:spcBef>
              <a:spcAft>
                <a:spcPts val="0"/>
              </a:spcAft>
              <a:buNone/>
            </a:pPr>
            <a:r>
              <a:rPr b="1" i="1" lang="it">
                <a:solidFill>
                  <a:schemeClr val="dk1"/>
                </a:solidFill>
                <a:highlight>
                  <a:srgbClr val="FFFF00"/>
                </a:highlight>
                <a:latin typeface="Rajdhani"/>
                <a:ea typeface="Rajdhani"/>
                <a:cs typeface="Rajdhani"/>
                <a:sym typeface="Rajdhani"/>
              </a:rPr>
              <a:t>Projekt vjetor, materiali jo më shumë se 15 faqe, të përmbajë ilustrime dhe gërmat në madhësinë e përshtatshme për projektorin.</a:t>
            </a:r>
            <a:endParaRPr b="1" i="1">
              <a:solidFill>
                <a:schemeClr val="dk1"/>
              </a:solidFill>
              <a:highlight>
                <a:srgbClr val="FFFF00"/>
              </a:highlight>
              <a:latin typeface="Rajdhani"/>
              <a:ea typeface="Rajdhani"/>
              <a:cs typeface="Rajdhani"/>
              <a:sym typeface="Rajdhani"/>
            </a:endParaRPr>
          </a:p>
          <a:p>
            <a:pPr indent="0" lvl="0" marL="0" rtl="0" algn="l">
              <a:spcBef>
                <a:spcPts val="1600"/>
              </a:spcBef>
              <a:spcAft>
                <a:spcPts val="0"/>
              </a:spcAft>
              <a:buNone/>
            </a:pPr>
            <a:r>
              <a:rPr b="1" i="1" lang="it">
                <a:solidFill>
                  <a:schemeClr val="dk1"/>
                </a:solidFill>
                <a:highlight>
                  <a:srgbClr val="FFFF00"/>
                </a:highlight>
                <a:latin typeface="Rajdhani"/>
                <a:ea typeface="Rajdhani"/>
                <a:cs typeface="Rajdhani"/>
                <a:sym typeface="Rajdhani"/>
              </a:rPr>
              <a:t>Koha e prezantimeve është maksimumi 10’ përfshirë dhe demonstrimi.</a:t>
            </a:r>
            <a:endParaRPr b="1" i="1">
              <a:solidFill>
                <a:schemeClr val="dk1"/>
              </a:solidFill>
              <a:highlight>
                <a:srgbClr val="FFFF00"/>
              </a:highlight>
              <a:latin typeface="Rajdhani"/>
              <a:ea typeface="Rajdhani"/>
              <a:cs typeface="Rajdhani"/>
              <a:sym typeface="Rajdhani"/>
            </a:endParaRPr>
          </a:p>
          <a:p>
            <a:pPr indent="0" lvl="0" marL="0" rtl="0" algn="l">
              <a:spcBef>
                <a:spcPts val="1600"/>
              </a:spcBef>
              <a:spcAft>
                <a:spcPts val="1600"/>
              </a:spcAft>
              <a:buNone/>
            </a:pPr>
            <a:r>
              <a:t/>
            </a:r>
            <a:endParaRPr>
              <a:latin typeface="Rajdhani"/>
              <a:ea typeface="Rajdhani"/>
              <a:cs typeface="Rajdhani"/>
              <a:sym typeface="Rajdhani"/>
            </a:endParaRPr>
          </a:p>
        </p:txBody>
      </p:sp>
      <p:sp>
        <p:nvSpPr>
          <p:cNvPr id="66" name="Google Shape;66;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it"/>
              <a:t>‹#›</a:t>
            </a:fld>
            <a:endParaRPr/>
          </a:p>
        </p:txBody>
      </p:sp>
      <p:sp>
        <p:nvSpPr>
          <p:cNvPr id="67" name="Google Shape;67;p14"/>
          <p:cNvSpPr txBox="1"/>
          <p:nvPr/>
        </p:nvSpPr>
        <p:spPr>
          <a:xfrm>
            <a:off x="0" y="4835700"/>
            <a:ext cx="1121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800">
                <a:solidFill>
                  <a:schemeClr val="dk1"/>
                </a:solidFill>
                <a:latin typeface="Dosis"/>
                <a:ea typeface="Dosis"/>
                <a:cs typeface="Dosis"/>
                <a:sym typeface="Dosis"/>
              </a:rPr>
              <a:t>Rish. MPVx-A-2024-1</a:t>
            </a:r>
            <a:endParaRPr sz="800">
              <a:solidFill>
                <a:schemeClr val="dk1"/>
              </a:solidFill>
              <a:latin typeface="Dosis"/>
              <a:ea typeface="Dosis"/>
              <a:cs typeface="Dosis"/>
              <a:sym typeface="Dosis"/>
            </a:endParaRPr>
          </a:p>
        </p:txBody>
      </p:sp>
    </p:spTree>
  </p:cSld>
  <p:clrMapOvr>
    <a:masterClrMapping/>
  </p:clrMapOvr>
  <mc:AlternateContent>
    <mc:Choice Requires="p14">
      <p:transition spd="slow" p14:dur="1000">
        <p:fade thruBlk="1"/>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p:nvPr/>
        </p:nvSpPr>
        <p:spPr>
          <a:xfrm>
            <a:off x="0" y="0"/>
            <a:ext cx="9144000" cy="307800"/>
          </a:xfrm>
          <a:prstGeom prst="roundRect">
            <a:avLst>
              <a:gd fmla="val 0" name="adj"/>
            </a:avLst>
          </a:prstGeom>
          <a:solidFill>
            <a:srgbClr val="003A65"/>
          </a:solid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b="1" lang="it" sz="1800">
                <a:solidFill>
                  <a:schemeClr val="lt1"/>
                </a:solidFill>
                <a:latin typeface="Rajdhani"/>
                <a:ea typeface="Rajdhani"/>
                <a:cs typeface="Rajdhani"/>
                <a:sym typeface="Rajdhani"/>
              </a:rPr>
              <a:t>HFI 2024-2025 										</a:t>
            </a:r>
            <a:r>
              <a:rPr lang="it" sz="1800">
                <a:solidFill>
                  <a:schemeClr val="lt1"/>
                </a:solidFill>
                <a:latin typeface="Rajdhani"/>
                <a:ea typeface="Rajdhani"/>
                <a:cs typeface="Rajdhani"/>
                <a:sym typeface="Rajdhani"/>
              </a:rPr>
              <a:t>DEPARTAMENTI ELEKTRONIKË</a:t>
            </a:r>
            <a:endParaRPr sz="1800">
              <a:solidFill>
                <a:schemeClr val="lt1"/>
              </a:solidFill>
              <a:latin typeface="Rajdhani"/>
              <a:ea typeface="Rajdhani"/>
              <a:cs typeface="Rajdhani"/>
              <a:sym typeface="Rajdhani"/>
            </a:endParaRPr>
          </a:p>
        </p:txBody>
      </p:sp>
      <p:sp>
        <p:nvSpPr>
          <p:cNvPr id="73" name="Google Shape;73;p15"/>
          <p:cNvSpPr txBox="1"/>
          <p:nvPr>
            <p:ph type="title"/>
          </p:nvPr>
        </p:nvSpPr>
        <p:spPr>
          <a:xfrm>
            <a:off x="311575"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t>ABSTRAKT</a:t>
            </a:r>
            <a:endParaRPr b="1"/>
          </a:p>
        </p:txBody>
      </p:sp>
      <p:sp>
        <p:nvSpPr>
          <p:cNvPr id="74" name="Google Shape;74;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sz="1100">
                <a:solidFill>
                  <a:schemeClr val="dk1"/>
                </a:solidFill>
              </a:rPr>
              <a:t>Ky projekt synon zhvillimin e një sistemi për matjen dhe monitorimin e parametrave elektrikë (tension, rrymë, fuqi) duke përdorur Arduino dhe komponentë si sensori ACS712, ndarës tensioni dhe transformatorë. Ai aplikohet në monitorimin e konsumit të energjisë në ambiente shtëpiake, industriale dhe pajisje portative.</a:t>
            </a:r>
            <a:endParaRPr sz="1100">
              <a:solidFill>
                <a:schemeClr val="dk1"/>
              </a:solidFill>
            </a:endParaRPr>
          </a:p>
          <a:p>
            <a:pPr indent="0" lvl="0" marL="0" rtl="0" algn="l">
              <a:spcBef>
                <a:spcPts val="1200"/>
              </a:spcBef>
              <a:spcAft>
                <a:spcPts val="0"/>
              </a:spcAft>
              <a:buClr>
                <a:schemeClr val="dk1"/>
              </a:buClr>
              <a:buSzPts val="1100"/>
              <a:buFont typeface="Arial"/>
              <a:buNone/>
            </a:pPr>
            <a:r>
              <a:rPr b="1" lang="it" sz="1100">
                <a:solidFill>
                  <a:schemeClr val="dk1"/>
                </a:solidFill>
              </a:rPr>
              <a:t>Zgjedhja e temës</a:t>
            </a:r>
            <a:r>
              <a:rPr lang="it" sz="1100">
                <a:solidFill>
                  <a:schemeClr val="dk1"/>
                </a:solidFill>
              </a:rPr>
              <a:t> u bë për shkak të rëndësisë së kontrollit të parametrave elektrikë për të parandaluar defekte dhe humbje energjie, si dhe për të zhvilluar njohuritë praktike në Elektronikë dhe Matje Elektronike. Nga Elektronika përdorim njohuritë për projektimin e qarqeve dhe përzgjedhjen e komponentëve, ndërsa nga Matjet për analizën dhe kalibrimin e sinjaleve.</a:t>
            </a:r>
            <a:endParaRPr sz="1100">
              <a:solidFill>
                <a:schemeClr val="dk1"/>
              </a:solidFill>
            </a:endParaRPr>
          </a:p>
          <a:p>
            <a:pPr indent="0" lvl="0" marL="0" rtl="0" algn="l">
              <a:spcBef>
                <a:spcPts val="1200"/>
              </a:spcBef>
              <a:spcAft>
                <a:spcPts val="0"/>
              </a:spcAft>
              <a:buClr>
                <a:schemeClr val="dk1"/>
              </a:buClr>
              <a:buSzPts val="1100"/>
              <a:buFont typeface="Arial"/>
              <a:buNone/>
            </a:pPr>
            <a:r>
              <a:rPr b="1" lang="it" sz="1100">
                <a:solidFill>
                  <a:schemeClr val="dk1"/>
                </a:solidFill>
              </a:rPr>
              <a:t>Punime të ngjashme</a:t>
            </a:r>
            <a:r>
              <a:rPr lang="it" sz="1100">
                <a:solidFill>
                  <a:schemeClr val="dk1"/>
                </a:solidFill>
              </a:rPr>
              <a:t> janë sisteme bazë për matjen e rrymës dhe tensionit, por ky projekt fokusohet në saktësi më të lartë dhe ndërfaqe praktike për përdoruesin.</a:t>
            </a:r>
            <a:endParaRPr sz="1100">
              <a:solidFill>
                <a:schemeClr val="dk1"/>
              </a:solidFill>
            </a:endParaRPr>
          </a:p>
          <a:p>
            <a:pPr indent="0" lvl="0" marL="0" rtl="0" algn="l">
              <a:spcBef>
                <a:spcPts val="1200"/>
              </a:spcBef>
              <a:spcAft>
                <a:spcPts val="0"/>
              </a:spcAft>
              <a:buClr>
                <a:schemeClr val="dk1"/>
              </a:buClr>
              <a:buSzPts val="1100"/>
              <a:buFont typeface="Arial"/>
              <a:buNone/>
            </a:pPr>
            <a:r>
              <a:rPr b="1" lang="it" sz="1100">
                <a:solidFill>
                  <a:schemeClr val="dk1"/>
                </a:solidFill>
              </a:rPr>
              <a:t>Objektivat</a:t>
            </a:r>
            <a:r>
              <a:rPr lang="it" sz="1100">
                <a:solidFill>
                  <a:schemeClr val="dk1"/>
                </a:solidFill>
              </a:rPr>
              <a:t> janë: ndërtimi i një pajisjeje funksionale për matje në kohë reale, rritja e saktësisë së matjeve, dhe ndërtimi i një sistemi edukativ.</a:t>
            </a:r>
            <a:endParaRPr sz="1100">
              <a:solidFill>
                <a:schemeClr val="dk1"/>
              </a:solidFill>
            </a:endParaRPr>
          </a:p>
          <a:p>
            <a:pPr indent="0" lvl="0" marL="0" rtl="0" algn="l">
              <a:spcBef>
                <a:spcPts val="1200"/>
              </a:spcBef>
              <a:spcAft>
                <a:spcPts val="0"/>
              </a:spcAft>
              <a:buClr>
                <a:schemeClr val="dk1"/>
              </a:buClr>
              <a:buSzPts val="1100"/>
              <a:buFont typeface="Arial"/>
              <a:buNone/>
            </a:pPr>
            <a:r>
              <a:rPr b="1" lang="it" sz="1100">
                <a:solidFill>
                  <a:schemeClr val="dk1"/>
                </a:solidFill>
              </a:rPr>
              <a:t>Gjetjet</a:t>
            </a:r>
            <a:r>
              <a:rPr lang="it" sz="1100">
                <a:solidFill>
                  <a:schemeClr val="dk1"/>
                </a:solidFill>
              </a:rPr>
              <a:t> përfshijnë përdorimin efikas të sensorëve, nevojën për kalibrim të saktë dhe integrimin e thjeshtë të të dhënave në ekran LCD.</a:t>
            </a:r>
            <a:endParaRPr sz="1100">
              <a:solidFill>
                <a:schemeClr val="dk1"/>
              </a:solidFill>
            </a:endParaRPr>
          </a:p>
          <a:p>
            <a:pPr indent="0" lvl="0" marL="0" rtl="0" algn="l">
              <a:spcBef>
                <a:spcPts val="1200"/>
              </a:spcBef>
              <a:spcAft>
                <a:spcPts val="1200"/>
              </a:spcAft>
              <a:buNone/>
            </a:pPr>
            <a:r>
              <a:rPr b="1" lang="it" sz="1100">
                <a:solidFill>
                  <a:schemeClr val="dk1"/>
                </a:solidFill>
              </a:rPr>
              <a:t>Përfundimisht</a:t>
            </a:r>
            <a:r>
              <a:rPr lang="it" sz="1100">
                <a:solidFill>
                  <a:schemeClr val="dk1"/>
                </a:solidFill>
              </a:rPr>
              <a:t>, projekti kombinon teori dhe praktikë për të krijuar një sistem të dobishëm për menaxhimin e energjisë, me aplikime reale dhe vlerë edukative.</a:t>
            </a:r>
            <a:endParaRPr sz="1100">
              <a:solidFill>
                <a:schemeClr val="dk1"/>
              </a:solidFill>
            </a:endParaRPr>
          </a:p>
        </p:txBody>
      </p:sp>
      <p:sp>
        <p:nvSpPr>
          <p:cNvPr id="75" name="Google Shape;75;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mc:AlternateContent>
    <mc:Choice Requires="p14">
      <p:transition spd="slow" p14:dur="1000">
        <p:fade thruBlk="1"/>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p:nvPr/>
        </p:nvSpPr>
        <p:spPr>
          <a:xfrm>
            <a:off x="0" y="0"/>
            <a:ext cx="9144000" cy="307800"/>
          </a:xfrm>
          <a:prstGeom prst="roundRect">
            <a:avLst>
              <a:gd fmla="val 0" name="adj"/>
            </a:avLst>
          </a:prstGeom>
          <a:solidFill>
            <a:srgbClr val="003A65"/>
          </a:solid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b="1" lang="it" sz="1800">
                <a:solidFill>
                  <a:schemeClr val="lt1"/>
                </a:solidFill>
                <a:latin typeface="Rajdhani"/>
                <a:ea typeface="Rajdhani"/>
                <a:cs typeface="Rajdhani"/>
                <a:sym typeface="Rajdhani"/>
              </a:rPr>
              <a:t>HFI 2024-2025 										</a:t>
            </a:r>
            <a:r>
              <a:rPr lang="it" sz="1800">
                <a:solidFill>
                  <a:schemeClr val="lt1"/>
                </a:solidFill>
                <a:latin typeface="Rajdhani"/>
                <a:ea typeface="Rajdhani"/>
                <a:cs typeface="Rajdhani"/>
                <a:sym typeface="Rajdhani"/>
              </a:rPr>
              <a:t>DEPARTAMENTI ELEKTRONIKË</a:t>
            </a:r>
            <a:endParaRPr sz="1800">
              <a:solidFill>
                <a:schemeClr val="lt1"/>
              </a:solidFill>
              <a:latin typeface="Rajdhani"/>
              <a:ea typeface="Rajdhani"/>
              <a:cs typeface="Rajdhani"/>
              <a:sym typeface="Rajdhani"/>
            </a:endParaRPr>
          </a:p>
        </p:txBody>
      </p:sp>
      <p:sp>
        <p:nvSpPr>
          <p:cNvPr id="81" name="Google Shape;81;p16"/>
          <p:cNvSpPr txBox="1"/>
          <p:nvPr>
            <p:ph type="title"/>
          </p:nvPr>
        </p:nvSpPr>
        <p:spPr>
          <a:xfrm>
            <a:off x="311575"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sz="2600"/>
              <a:t>Përshkrim i përgjithshëm dhe funksionimi i skemës</a:t>
            </a:r>
            <a:endParaRPr b="1" sz="2600"/>
          </a:p>
        </p:txBody>
      </p:sp>
      <p:sp>
        <p:nvSpPr>
          <p:cNvPr id="82" name="Google Shape;82;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228600" lvl="0" marL="457200" rtl="0" algn="l">
              <a:lnSpc>
                <a:spcPct val="100000"/>
              </a:lnSpc>
              <a:spcBef>
                <a:spcPts val="500"/>
              </a:spcBef>
              <a:spcAft>
                <a:spcPts val="0"/>
              </a:spcAft>
              <a:buNone/>
            </a:pPr>
            <a:r>
              <a:rPr b="1" lang="it" sz="1100">
                <a:solidFill>
                  <a:schemeClr val="dk1"/>
                </a:solidFill>
              </a:rPr>
              <a:t>Pjesa teorike &amp; ndërtimi në simulator:</a:t>
            </a:r>
            <a:r>
              <a:rPr lang="it" sz="1100">
                <a:solidFill>
                  <a:schemeClr val="dk1"/>
                </a:solidFill>
              </a:rPr>
              <a:t> Sistemi bazohet në përdorimin e Arduino UNO, sensorit ACS712, ndarësit të tensionit dhe komponentëve ndihmës. Simulimi bëhet përmes software-sh si Proteus ose Tinkercad për të testuar matjet në mënyrë virtuale.</a:t>
            </a:r>
            <a:endParaRPr sz="1100">
              <a:solidFill>
                <a:schemeClr val="dk1"/>
              </a:solidFill>
            </a:endParaRPr>
          </a:p>
          <a:p>
            <a:pPr indent="-228600" lvl="0" marL="457200" rtl="0" algn="l">
              <a:lnSpc>
                <a:spcPct val="100000"/>
              </a:lnSpc>
              <a:spcBef>
                <a:spcPts val="500"/>
              </a:spcBef>
              <a:spcAft>
                <a:spcPts val="0"/>
              </a:spcAft>
              <a:buNone/>
            </a:pPr>
            <a:r>
              <a:rPr b="1" lang="it" sz="1100">
                <a:solidFill>
                  <a:schemeClr val="dk1"/>
                </a:solidFill>
              </a:rPr>
              <a:t>Funksionimi i skemës:</a:t>
            </a:r>
            <a:endParaRPr b="1" sz="1100">
              <a:solidFill>
                <a:schemeClr val="dk1"/>
              </a:solidFill>
            </a:endParaRPr>
          </a:p>
          <a:p>
            <a:pPr indent="-298450" lvl="0" marL="457200" rtl="0" algn="l">
              <a:lnSpc>
                <a:spcPct val="100000"/>
              </a:lnSpc>
              <a:spcBef>
                <a:spcPts val="500"/>
              </a:spcBef>
              <a:spcAft>
                <a:spcPts val="0"/>
              </a:spcAft>
              <a:buClr>
                <a:schemeClr val="dk1"/>
              </a:buClr>
              <a:buSzPts val="1100"/>
              <a:buAutoNum type="arabicPeriod"/>
            </a:pPr>
            <a:r>
              <a:rPr lang="it" sz="1100">
                <a:solidFill>
                  <a:schemeClr val="dk1"/>
                </a:solidFill>
              </a:rPr>
              <a:t>Tensioni AC ulet përmes transformatorit.</a:t>
            </a:r>
            <a:endParaRPr sz="1100">
              <a:solidFill>
                <a:schemeClr val="dk1"/>
              </a:solidFill>
            </a:endParaRPr>
          </a:p>
          <a:p>
            <a:pPr indent="-298450" lvl="0" marL="457200" rtl="0" algn="l">
              <a:lnSpc>
                <a:spcPct val="100000"/>
              </a:lnSpc>
              <a:spcBef>
                <a:spcPts val="500"/>
              </a:spcBef>
              <a:spcAft>
                <a:spcPts val="0"/>
              </a:spcAft>
              <a:buClr>
                <a:schemeClr val="dk1"/>
              </a:buClr>
              <a:buSzPts val="1100"/>
              <a:buAutoNum type="arabicPeriod"/>
            </a:pPr>
            <a:r>
              <a:rPr lang="it" sz="1100">
                <a:solidFill>
                  <a:schemeClr val="dk1"/>
                </a:solidFill>
              </a:rPr>
              <a:t>Ura Gretz e kthen në sinjal DC për matje të sigurt.</a:t>
            </a:r>
            <a:endParaRPr sz="1100">
              <a:solidFill>
                <a:schemeClr val="dk1"/>
              </a:solidFill>
            </a:endParaRPr>
          </a:p>
          <a:p>
            <a:pPr indent="-298450" lvl="0" marL="457200" rtl="0" algn="l">
              <a:lnSpc>
                <a:spcPct val="100000"/>
              </a:lnSpc>
              <a:spcBef>
                <a:spcPts val="500"/>
              </a:spcBef>
              <a:spcAft>
                <a:spcPts val="0"/>
              </a:spcAft>
              <a:buClr>
                <a:schemeClr val="dk1"/>
              </a:buClr>
              <a:buSzPts val="1100"/>
              <a:buAutoNum type="arabicPeriod"/>
            </a:pPr>
            <a:r>
              <a:rPr lang="it" sz="1100">
                <a:solidFill>
                  <a:schemeClr val="dk1"/>
                </a:solidFill>
              </a:rPr>
              <a:t>Sensori ACS712 mat rrymën dhe Arduino përpunon të dhënat.</a:t>
            </a:r>
            <a:endParaRPr sz="1100">
              <a:solidFill>
                <a:schemeClr val="dk1"/>
              </a:solidFill>
            </a:endParaRPr>
          </a:p>
          <a:p>
            <a:pPr indent="-298450" lvl="0" marL="457200" rtl="0" algn="l">
              <a:lnSpc>
                <a:spcPct val="100000"/>
              </a:lnSpc>
              <a:spcBef>
                <a:spcPts val="500"/>
              </a:spcBef>
              <a:spcAft>
                <a:spcPts val="0"/>
              </a:spcAft>
              <a:buClr>
                <a:schemeClr val="dk1"/>
              </a:buClr>
              <a:buSzPts val="1100"/>
              <a:buAutoNum type="arabicPeriod"/>
            </a:pPr>
            <a:r>
              <a:rPr lang="it" sz="1100">
                <a:solidFill>
                  <a:schemeClr val="dk1"/>
                </a:solidFill>
              </a:rPr>
              <a:t>Përmes formulave P = V × I dhe E = P × t llogariten fuqia dhe energjia.</a:t>
            </a:r>
            <a:endParaRPr sz="1100">
              <a:solidFill>
                <a:schemeClr val="dk1"/>
              </a:solidFill>
            </a:endParaRPr>
          </a:p>
          <a:p>
            <a:pPr indent="-298450" lvl="0" marL="457200" rtl="0" algn="l">
              <a:lnSpc>
                <a:spcPct val="100000"/>
              </a:lnSpc>
              <a:spcBef>
                <a:spcPts val="500"/>
              </a:spcBef>
              <a:spcAft>
                <a:spcPts val="0"/>
              </a:spcAft>
              <a:buClr>
                <a:schemeClr val="dk1"/>
              </a:buClr>
              <a:buSzPts val="1100"/>
              <a:buAutoNum type="arabicPeriod"/>
            </a:pPr>
            <a:r>
              <a:rPr lang="it" sz="1100">
                <a:solidFill>
                  <a:schemeClr val="dk1"/>
                </a:solidFill>
              </a:rPr>
              <a:t>LCD shfaq rezultatet në kohë reale.</a:t>
            </a:r>
            <a:endParaRPr sz="1100">
              <a:solidFill>
                <a:schemeClr val="dk1"/>
              </a:solidFill>
            </a:endParaRPr>
          </a:p>
          <a:p>
            <a:pPr indent="0" lvl="0" marL="0" rtl="0" algn="l">
              <a:lnSpc>
                <a:spcPct val="100000"/>
              </a:lnSpc>
              <a:spcBef>
                <a:spcPts val="500"/>
              </a:spcBef>
              <a:spcAft>
                <a:spcPts val="0"/>
              </a:spcAft>
              <a:buNone/>
            </a:pPr>
            <a:r>
              <a:rPr b="1" lang="it" sz="1100">
                <a:solidFill>
                  <a:schemeClr val="dk1"/>
                </a:solidFill>
              </a:rPr>
              <a:t>Pritshmëritë:</a:t>
            </a:r>
            <a:r>
              <a:rPr lang="it" sz="1100">
                <a:solidFill>
                  <a:schemeClr val="dk1"/>
                </a:solidFill>
              </a:rPr>
              <a:t> Matje të sakta në kohë reale për tension, rrymë, fuqi</a:t>
            </a:r>
            <a:endParaRPr sz="1100">
              <a:solidFill>
                <a:schemeClr val="dk1"/>
              </a:solidFill>
            </a:endParaRPr>
          </a:p>
          <a:p>
            <a:pPr indent="0" lvl="0" marL="0" rtl="0" algn="l">
              <a:lnSpc>
                <a:spcPct val="100000"/>
              </a:lnSpc>
              <a:spcBef>
                <a:spcPts val="500"/>
              </a:spcBef>
              <a:spcAft>
                <a:spcPts val="0"/>
              </a:spcAft>
              <a:buNone/>
            </a:pPr>
            <a:r>
              <a:rPr lang="it" sz="1100">
                <a:solidFill>
                  <a:schemeClr val="dk1"/>
                </a:solidFill>
              </a:rPr>
              <a:t> dhe energji; sistem i thjeshtë, ekonomik dhe praktik për përdorime </a:t>
            </a:r>
            <a:endParaRPr sz="1100">
              <a:solidFill>
                <a:schemeClr val="dk1"/>
              </a:solidFill>
            </a:endParaRPr>
          </a:p>
          <a:p>
            <a:pPr indent="0" lvl="0" marL="0" rtl="0" algn="l">
              <a:lnSpc>
                <a:spcPct val="100000"/>
              </a:lnSpc>
              <a:spcBef>
                <a:spcPts val="500"/>
              </a:spcBef>
              <a:spcAft>
                <a:spcPts val="500"/>
              </a:spcAft>
              <a:buNone/>
            </a:pPr>
            <a:r>
              <a:rPr lang="it" sz="1100">
                <a:solidFill>
                  <a:schemeClr val="dk1"/>
                </a:solidFill>
              </a:rPr>
              <a:t>edukative dhe laboratorike.</a:t>
            </a:r>
            <a:endParaRPr sz="1100">
              <a:latin typeface="Rajdhani"/>
              <a:ea typeface="Rajdhani"/>
              <a:cs typeface="Rajdhani"/>
              <a:sym typeface="Rajdhani"/>
            </a:endParaRPr>
          </a:p>
        </p:txBody>
      </p:sp>
      <p:sp>
        <p:nvSpPr>
          <p:cNvPr id="83" name="Google Shape;83;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it"/>
              <a:t>‹#›</a:t>
            </a:fld>
            <a:endParaRPr/>
          </a:p>
        </p:txBody>
      </p:sp>
      <p:sp>
        <p:nvSpPr>
          <p:cNvPr id="84" name="Google Shape;84;p16"/>
          <p:cNvSpPr txBox="1"/>
          <p:nvPr/>
        </p:nvSpPr>
        <p:spPr>
          <a:xfrm>
            <a:off x="0" y="4835700"/>
            <a:ext cx="1121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800">
                <a:solidFill>
                  <a:schemeClr val="dk1"/>
                </a:solidFill>
                <a:latin typeface="Dosis"/>
                <a:ea typeface="Dosis"/>
                <a:cs typeface="Dosis"/>
                <a:sym typeface="Dosis"/>
              </a:rPr>
              <a:t>Rish. MPVx-A-2024-1</a:t>
            </a:r>
            <a:endParaRPr sz="800">
              <a:solidFill>
                <a:schemeClr val="dk1"/>
              </a:solidFill>
              <a:latin typeface="Dosis"/>
              <a:ea typeface="Dosis"/>
              <a:cs typeface="Dosis"/>
              <a:sym typeface="Dosis"/>
            </a:endParaRPr>
          </a:p>
        </p:txBody>
      </p:sp>
      <p:pic>
        <p:nvPicPr>
          <p:cNvPr id="85" name="Google Shape;85;p16" title="Screenshot 2025-04-05 215612.png"/>
          <p:cNvPicPr preferRelativeResize="0"/>
          <p:nvPr/>
        </p:nvPicPr>
        <p:blipFill>
          <a:blip r:embed="rId3">
            <a:alphaModFix/>
          </a:blip>
          <a:stretch>
            <a:fillRect/>
          </a:stretch>
        </p:blipFill>
        <p:spPr>
          <a:xfrm>
            <a:off x="4771325" y="2826825"/>
            <a:ext cx="3859077" cy="1989800"/>
          </a:xfrm>
          <a:prstGeom prst="rect">
            <a:avLst/>
          </a:prstGeom>
          <a:noFill/>
          <a:ln>
            <a:noFill/>
          </a:ln>
        </p:spPr>
      </p:pic>
    </p:spTree>
  </p:cSld>
  <p:clrMapOvr>
    <a:masterClrMapping/>
  </p:clrMapOvr>
  <mc:AlternateContent>
    <mc:Choice Requires="p14">
      <p:transition spd="slow" p14:dur="1000">
        <p:fade thruBlk="1"/>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7"/>
          <p:cNvSpPr/>
          <p:nvPr/>
        </p:nvSpPr>
        <p:spPr>
          <a:xfrm>
            <a:off x="0" y="0"/>
            <a:ext cx="9144000" cy="307800"/>
          </a:xfrm>
          <a:prstGeom prst="roundRect">
            <a:avLst>
              <a:gd fmla="val 0" name="adj"/>
            </a:avLst>
          </a:prstGeom>
          <a:solidFill>
            <a:srgbClr val="003A65"/>
          </a:solid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b="1" lang="it" sz="1800">
                <a:solidFill>
                  <a:schemeClr val="lt1"/>
                </a:solidFill>
                <a:latin typeface="Rajdhani"/>
                <a:ea typeface="Rajdhani"/>
                <a:cs typeface="Rajdhani"/>
                <a:sym typeface="Rajdhani"/>
              </a:rPr>
              <a:t>HFI 2024-2025 										</a:t>
            </a:r>
            <a:r>
              <a:rPr lang="it" sz="1800">
                <a:solidFill>
                  <a:schemeClr val="lt1"/>
                </a:solidFill>
                <a:latin typeface="Rajdhani"/>
                <a:ea typeface="Rajdhani"/>
                <a:cs typeface="Rajdhani"/>
                <a:sym typeface="Rajdhani"/>
              </a:rPr>
              <a:t>DEPARTAMENTI ELEKTRONIKË</a:t>
            </a:r>
            <a:endParaRPr sz="1800">
              <a:solidFill>
                <a:schemeClr val="lt1"/>
              </a:solidFill>
              <a:latin typeface="Rajdhani"/>
              <a:ea typeface="Rajdhani"/>
              <a:cs typeface="Rajdhani"/>
              <a:sym typeface="Rajdhani"/>
            </a:endParaRPr>
          </a:p>
        </p:txBody>
      </p:sp>
      <p:sp>
        <p:nvSpPr>
          <p:cNvPr id="91" name="Google Shape;91;p17"/>
          <p:cNvSpPr txBox="1"/>
          <p:nvPr>
            <p:ph type="title"/>
          </p:nvPr>
        </p:nvSpPr>
        <p:spPr>
          <a:xfrm>
            <a:off x="311575"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t>Analiza teknike dhe metodologjia e matjes</a:t>
            </a:r>
            <a:endParaRPr b="1"/>
          </a:p>
        </p:txBody>
      </p:sp>
      <p:sp>
        <p:nvSpPr>
          <p:cNvPr id="92" name="Google Shape;92;p17"/>
          <p:cNvSpPr txBox="1"/>
          <p:nvPr>
            <p:ph idx="1" type="body"/>
          </p:nvPr>
        </p:nvSpPr>
        <p:spPr>
          <a:xfrm>
            <a:off x="311700" y="1152475"/>
            <a:ext cx="8520600" cy="3721200"/>
          </a:xfrm>
          <a:prstGeom prst="rect">
            <a:avLst/>
          </a:prstGeom>
        </p:spPr>
        <p:txBody>
          <a:bodyPr anchorCtr="0" anchor="t" bIns="91425" lIns="91425" spcFirstLastPara="1" rIns="91425" wrap="square" tIns="91425">
            <a:noAutofit/>
          </a:bodyPr>
          <a:lstStyle/>
          <a:p>
            <a:pPr indent="0" lvl="0" marL="0" rtl="0" algn="l">
              <a:lnSpc>
                <a:spcPct val="100000"/>
              </a:lnSpc>
              <a:spcBef>
                <a:spcPts val="500"/>
              </a:spcBef>
              <a:spcAft>
                <a:spcPts val="0"/>
              </a:spcAft>
              <a:buClr>
                <a:schemeClr val="dk1"/>
              </a:buClr>
              <a:buSzPts val="1100"/>
              <a:buFont typeface="Arial"/>
              <a:buNone/>
            </a:pPr>
            <a:r>
              <a:rPr b="1" lang="it" sz="1100">
                <a:solidFill>
                  <a:schemeClr val="dk1"/>
                </a:solidFill>
              </a:rPr>
              <a:t>Modeli i instrumentit:</a:t>
            </a:r>
            <a:r>
              <a:rPr lang="it" sz="1100">
                <a:solidFill>
                  <a:schemeClr val="dk1"/>
                </a:solidFill>
              </a:rPr>
              <a:t> Arduino UNO + ACS712 (30A) + Ndarës tensioni + LCD. Lidhje me ngarkesën për matje të parametrave elektrikë.</a:t>
            </a:r>
            <a:endParaRPr sz="1100">
              <a:solidFill>
                <a:schemeClr val="dk1"/>
              </a:solidFill>
            </a:endParaRPr>
          </a:p>
          <a:p>
            <a:pPr indent="0" lvl="0" marL="0" rtl="0" algn="l">
              <a:lnSpc>
                <a:spcPct val="100000"/>
              </a:lnSpc>
              <a:spcBef>
                <a:spcPts val="500"/>
              </a:spcBef>
              <a:spcAft>
                <a:spcPts val="0"/>
              </a:spcAft>
              <a:buClr>
                <a:schemeClr val="dk1"/>
              </a:buClr>
              <a:buSzPts val="1100"/>
              <a:buFont typeface="Arial"/>
              <a:buNone/>
            </a:pPr>
            <a:r>
              <a:rPr b="1" lang="it" sz="1100">
                <a:solidFill>
                  <a:schemeClr val="dk1"/>
                </a:solidFill>
              </a:rPr>
              <a:t>Analiza e gabimeve dhe diapazoni i matjes:</a:t>
            </a:r>
            <a:endParaRPr b="1" sz="1100">
              <a:solidFill>
                <a:schemeClr val="dk1"/>
              </a:solidFill>
            </a:endParaRPr>
          </a:p>
          <a:p>
            <a:pPr indent="-298450" lvl="0" marL="457200" rtl="0" algn="l">
              <a:lnSpc>
                <a:spcPct val="100000"/>
              </a:lnSpc>
              <a:spcBef>
                <a:spcPts val="500"/>
              </a:spcBef>
              <a:spcAft>
                <a:spcPts val="0"/>
              </a:spcAft>
              <a:buClr>
                <a:schemeClr val="dk1"/>
              </a:buClr>
              <a:buSzPts val="1100"/>
              <a:buChar char="●"/>
            </a:pPr>
            <a:r>
              <a:rPr lang="it" sz="1100" u="sng">
                <a:solidFill>
                  <a:schemeClr val="hlink"/>
                </a:solidFill>
                <a:hlinkClick r:id="rId3"/>
              </a:rPr>
              <a:t>Fleta e kalibrimit</a:t>
            </a:r>
            <a:endParaRPr sz="1100">
              <a:solidFill>
                <a:schemeClr val="dk1"/>
              </a:solidFill>
            </a:endParaRPr>
          </a:p>
          <a:p>
            <a:pPr indent="-298450" lvl="0" marL="457200" rtl="0" algn="l">
              <a:lnSpc>
                <a:spcPct val="100000"/>
              </a:lnSpc>
              <a:spcBef>
                <a:spcPts val="500"/>
              </a:spcBef>
              <a:spcAft>
                <a:spcPts val="0"/>
              </a:spcAft>
              <a:buClr>
                <a:schemeClr val="dk1"/>
              </a:buClr>
              <a:buSzPts val="1100"/>
              <a:buChar char="●"/>
            </a:pPr>
            <a:r>
              <a:rPr lang="it" sz="1100">
                <a:solidFill>
                  <a:schemeClr val="dk1"/>
                </a:solidFill>
              </a:rPr>
              <a:t>Diapazoni:</a:t>
            </a:r>
            <a:endParaRPr sz="1100">
              <a:solidFill>
                <a:schemeClr val="dk1"/>
              </a:solidFill>
            </a:endParaRPr>
          </a:p>
          <a:p>
            <a:pPr indent="-298450" lvl="1" marL="914400" rtl="0" algn="l">
              <a:lnSpc>
                <a:spcPct val="100000"/>
              </a:lnSpc>
              <a:spcBef>
                <a:spcPts val="500"/>
              </a:spcBef>
              <a:spcAft>
                <a:spcPts val="0"/>
              </a:spcAft>
              <a:buClr>
                <a:schemeClr val="dk1"/>
              </a:buClr>
              <a:buSzPts val="1100"/>
              <a:buChar char="○"/>
            </a:pPr>
            <a:r>
              <a:rPr lang="it" sz="1100">
                <a:solidFill>
                  <a:schemeClr val="dk1"/>
                </a:solidFill>
              </a:rPr>
              <a:t>Tension: 0–250V AC.</a:t>
            </a:r>
            <a:endParaRPr sz="1100">
              <a:solidFill>
                <a:schemeClr val="dk1"/>
              </a:solidFill>
            </a:endParaRPr>
          </a:p>
          <a:p>
            <a:pPr indent="-298450" lvl="1" marL="914400" rtl="0" algn="l">
              <a:lnSpc>
                <a:spcPct val="100000"/>
              </a:lnSpc>
              <a:spcBef>
                <a:spcPts val="500"/>
              </a:spcBef>
              <a:spcAft>
                <a:spcPts val="0"/>
              </a:spcAft>
              <a:buClr>
                <a:schemeClr val="dk1"/>
              </a:buClr>
              <a:buSzPts val="1100"/>
              <a:buChar char="○"/>
            </a:pPr>
            <a:r>
              <a:rPr lang="it" sz="1100">
                <a:solidFill>
                  <a:schemeClr val="dk1"/>
                </a:solidFill>
              </a:rPr>
              <a:t>Rrymë: deri në 30A.</a:t>
            </a:r>
            <a:endParaRPr sz="1100">
              <a:solidFill>
                <a:schemeClr val="dk1"/>
              </a:solidFill>
            </a:endParaRPr>
          </a:p>
          <a:p>
            <a:pPr indent="0" lvl="0" marL="0" rtl="0" algn="l">
              <a:lnSpc>
                <a:spcPct val="100000"/>
              </a:lnSpc>
              <a:spcBef>
                <a:spcPts val="500"/>
              </a:spcBef>
              <a:spcAft>
                <a:spcPts val="0"/>
              </a:spcAft>
              <a:buClr>
                <a:schemeClr val="dk1"/>
              </a:buClr>
              <a:buSzPts val="1100"/>
              <a:buFont typeface="Arial"/>
              <a:buNone/>
            </a:pPr>
            <a:r>
              <a:rPr b="1" lang="it" sz="1100">
                <a:solidFill>
                  <a:schemeClr val="dk1"/>
                </a:solidFill>
              </a:rPr>
              <a:t>Normativa dhe standardet:</a:t>
            </a:r>
            <a:endParaRPr b="1" sz="1100">
              <a:solidFill>
                <a:schemeClr val="dk1"/>
              </a:solidFill>
            </a:endParaRPr>
          </a:p>
          <a:p>
            <a:pPr indent="-298450" lvl="0" marL="457200" rtl="0" algn="l">
              <a:lnSpc>
                <a:spcPct val="100000"/>
              </a:lnSpc>
              <a:spcBef>
                <a:spcPts val="500"/>
              </a:spcBef>
              <a:spcAft>
                <a:spcPts val="0"/>
              </a:spcAft>
              <a:buClr>
                <a:schemeClr val="dk1"/>
              </a:buClr>
              <a:buSzPts val="1100"/>
              <a:buChar char="●"/>
            </a:pPr>
            <a:r>
              <a:rPr lang="it" sz="1100">
                <a:solidFill>
                  <a:schemeClr val="dk1"/>
                </a:solidFill>
              </a:rPr>
              <a:t>Përdoren komponentë të certifikuar.</a:t>
            </a:r>
            <a:endParaRPr sz="1100">
              <a:solidFill>
                <a:schemeClr val="dk1"/>
              </a:solidFill>
            </a:endParaRPr>
          </a:p>
          <a:p>
            <a:pPr indent="-298450" lvl="0" marL="457200" rtl="0" algn="l">
              <a:lnSpc>
                <a:spcPct val="100000"/>
              </a:lnSpc>
              <a:spcBef>
                <a:spcPts val="500"/>
              </a:spcBef>
              <a:spcAft>
                <a:spcPts val="0"/>
              </a:spcAft>
              <a:buClr>
                <a:schemeClr val="dk1"/>
              </a:buClr>
              <a:buSzPts val="1100"/>
              <a:buChar char="●"/>
            </a:pPr>
            <a:r>
              <a:rPr lang="it" sz="1100">
                <a:solidFill>
                  <a:schemeClr val="dk1"/>
                </a:solidFill>
              </a:rPr>
              <a:t>Matjet respektojnë kufijtë e sigurisë për Arduino (0–5V DC input).</a:t>
            </a:r>
            <a:endParaRPr sz="1100">
              <a:solidFill>
                <a:schemeClr val="dk1"/>
              </a:solidFill>
            </a:endParaRPr>
          </a:p>
          <a:p>
            <a:pPr indent="-298450" lvl="0" marL="457200" rtl="0" algn="l">
              <a:lnSpc>
                <a:spcPct val="100000"/>
              </a:lnSpc>
              <a:spcBef>
                <a:spcPts val="500"/>
              </a:spcBef>
              <a:spcAft>
                <a:spcPts val="0"/>
              </a:spcAft>
              <a:buClr>
                <a:schemeClr val="dk1"/>
              </a:buClr>
              <a:buSzPts val="1100"/>
              <a:buChar char="●"/>
            </a:pPr>
            <a:r>
              <a:rPr lang="it" sz="1100">
                <a:solidFill>
                  <a:schemeClr val="dk1"/>
                </a:solidFill>
              </a:rPr>
              <a:t>Rrjeti: 230V/50Hz sipas standardeve evropiane.</a:t>
            </a:r>
            <a:endParaRPr sz="1100">
              <a:solidFill>
                <a:schemeClr val="dk1"/>
              </a:solidFill>
            </a:endParaRPr>
          </a:p>
          <a:p>
            <a:pPr indent="0" lvl="0" marL="0" rtl="0" algn="l">
              <a:lnSpc>
                <a:spcPct val="100000"/>
              </a:lnSpc>
              <a:spcBef>
                <a:spcPts val="500"/>
              </a:spcBef>
              <a:spcAft>
                <a:spcPts val="0"/>
              </a:spcAft>
              <a:buClr>
                <a:schemeClr val="dk1"/>
              </a:buClr>
              <a:buSzPts val="1100"/>
              <a:buFont typeface="Arial"/>
              <a:buNone/>
            </a:pPr>
            <a:r>
              <a:rPr b="1" lang="it" sz="1100">
                <a:solidFill>
                  <a:schemeClr val="dk1"/>
                </a:solidFill>
              </a:rPr>
              <a:t>Metoda e matjes:</a:t>
            </a:r>
            <a:endParaRPr b="1" sz="1100">
              <a:solidFill>
                <a:schemeClr val="dk1"/>
              </a:solidFill>
            </a:endParaRPr>
          </a:p>
          <a:p>
            <a:pPr indent="-298450" lvl="0" marL="457200" rtl="0" algn="l">
              <a:lnSpc>
                <a:spcPct val="100000"/>
              </a:lnSpc>
              <a:spcBef>
                <a:spcPts val="500"/>
              </a:spcBef>
              <a:spcAft>
                <a:spcPts val="0"/>
              </a:spcAft>
              <a:buClr>
                <a:schemeClr val="dk1"/>
              </a:buClr>
              <a:buSzPts val="1100"/>
              <a:buChar char="●"/>
            </a:pPr>
            <a:r>
              <a:rPr lang="it" sz="1100">
                <a:solidFill>
                  <a:schemeClr val="dk1"/>
                </a:solidFill>
              </a:rPr>
              <a:t>Tensioni: përmes ndarësit të tensionit.</a:t>
            </a:r>
            <a:endParaRPr sz="1100">
              <a:solidFill>
                <a:schemeClr val="dk1"/>
              </a:solidFill>
            </a:endParaRPr>
          </a:p>
          <a:p>
            <a:pPr indent="-298450" lvl="0" marL="457200" rtl="0" algn="l">
              <a:lnSpc>
                <a:spcPct val="100000"/>
              </a:lnSpc>
              <a:spcBef>
                <a:spcPts val="500"/>
              </a:spcBef>
              <a:spcAft>
                <a:spcPts val="0"/>
              </a:spcAft>
              <a:buClr>
                <a:schemeClr val="dk1"/>
              </a:buClr>
              <a:buSzPts val="1100"/>
              <a:buChar char="●"/>
            </a:pPr>
            <a:r>
              <a:rPr lang="it" sz="1100">
                <a:solidFill>
                  <a:schemeClr val="dk1"/>
                </a:solidFill>
              </a:rPr>
              <a:t>Rryma: përmes sensorit ACS712.</a:t>
            </a:r>
            <a:endParaRPr sz="1100">
              <a:solidFill>
                <a:schemeClr val="dk1"/>
              </a:solidFill>
            </a:endParaRPr>
          </a:p>
          <a:p>
            <a:pPr indent="-298450" lvl="0" marL="457200" rtl="0" algn="l">
              <a:lnSpc>
                <a:spcPct val="100000"/>
              </a:lnSpc>
              <a:spcBef>
                <a:spcPts val="500"/>
              </a:spcBef>
              <a:spcAft>
                <a:spcPts val="0"/>
              </a:spcAft>
              <a:buClr>
                <a:schemeClr val="dk1"/>
              </a:buClr>
              <a:buSzPts val="1100"/>
              <a:buChar char="●"/>
            </a:pPr>
            <a:r>
              <a:rPr lang="it" sz="1100">
                <a:solidFill>
                  <a:schemeClr val="dk1"/>
                </a:solidFill>
              </a:rPr>
              <a:t>Fuqia: P = V × I.</a:t>
            </a:r>
            <a:endParaRPr sz="1100">
              <a:solidFill>
                <a:schemeClr val="dk1"/>
              </a:solidFill>
            </a:endParaRPr>
          </a:p>
          <a:p>
            <a:pPr indent="-298450" lvl="0" marL="457200" rtl="0" algn="l">
              <a:lnSpc>
                <a:spcPct val="100000"/>
              </a:lnSpc>
              <a:spcBef>
                <a:spcPts val="500"/>
              </a:spcBef>
              <a:spcAft>
                <a:spcPts val="500"/>
              </a:spcAft>
              <a:buClr>
                <a:schemeClr val="dk1"/>
              </a:buClr>
              <a:buSzPts val="1100"/>
              <a:buChar char="●"/>
            </a:pPr>
            <a:r>
              <a:rPr lang="it" sz="1100">
                <a:solidFill>
                  <a:schemeClr val="dk1"/>
                </a:solidFill>
              </a:rPr>
              <a:t>Energjia: E = P × t, llogaritur përmes kohës së funksionimit nga Arduino.</a:t>
            </a:r>
            <a:endParaRPr>
              <a:latin typeface="Rajdhani"/>
              <a:ea typeface="Rajdhani"/>
              <a:cs typeface="Rajdhani"/>
              <a:sym typeface="Rajdhani"/>
            </a:endParaRPr>
          </a:p>
        </p:txBody>
      </p:sp>
      <p:sp>
        <p:nvSpPr>
          <p:cNvPr id="93" name="Google Shape;93;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it"/>
              <a:t>‹#›</a:t>
            </a:fld>
            <a:endParaRPr/>
          </a:p>
        </p:txBody>
      </p:sp>
      <p:sp>
        <p:nvSpPr>
          <p:cNvPr id="94" name="Google Shape;94;p17"/>
          <p:cNvSpPr txBox="1"/>
          <p:nvPr/>
        </p:nvSpPr>
        <p:spPr>
          <a:xfrm>
            <a:off x="0" y="4835700"/>
            <a:ext cx="1121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800">
                <a:solidFill>
                  <a:schemeClr val="dk1"/>
                </a:solidFill>
                <a:latin typeface="Dosis"/>
                <a:ea typeface="Dosis"/>
                <a:cs typeface="Dosis"/>
                <a:sym typeface="Dosis"/>
              </a:rPr>
              <a:t>Rish. MPVx-A-2024-1</a:t>
            </a:r>
            <a:endParaRPr sz="800">
              <a:solidFill>
                <a:schemeClr val="dk1"/>
              </a:solidFill>
              <a:latin typeface="Dosis"/>
              <a:ea typeface="Dosis"/>
              <a:cs typeface="Dosis"/>
              <a:sym typeface="Dosis"/>
            </a:endParaRPr>
          </a:p>
        </p:txBody>
      </p:sp>
    </p:spTree>
  </p:cSld>
  <p:clrMapOvr>
    <a:masterClrMapping/>
  </p:clrMapOvr>
  <mc:AlternateContent>
    <mc:Choice Requires="p14">
      <p:transition spd="slow" p14:dur="1000">
        <p:fade thruBlk="1"/>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8"/>
          <p:cNvSpPr/>
          <p:nvPr/>
        </p:nvSpPr>
        <p:spPr>
          <a:xfrm>
            <a:off x="0" y="0"/>
            <a:ext cx="9144000" cy="307800"/>
          </a:xfrm>
          <a:prstGeom prst="roundRect">
            <a:avLst>
              <a:gd fmla="val 0" name="adj"/>
            </a:avLst>
          </a:prstGeom>
          <a:solidFill>
            <a:srgbClr val="003A65"/>
          </a:solid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b="1" lang="it" sz="1800">
                <a:solidFill>
                  <a:schemeClr val="lt1"/>
                </a:solidFill>
                <a:latin typeface="Rajdhani"/>
                <a:ea typeface="Rajdhani"/>
                <a:cs typeface="Rajdhani"/>
                <a:sym typeface="Rajdhani"/>
              </a:rPr>
              <a:t>HFI 2024-2025 										</a:t>
            </a:r>
            <a:r>
              <a:rPr lang="it" sz="1800">
                <a:solidFill>
                  <a:schemeClr val="lt1"/>
                </a:solidFill>
                <a:latin typeface="Rajdhani"/>
                <a:ea typeface="Rajdhani"/>
                <a:cs typeface="Rajdhani"/>
                <a:sym typeface="Rajdhani"/>
              </a:rPr>
              <a:t>DEPARTAMENTI ELEKTRONIKË</a:t>
            </a:r>
            <a:endParaRPr sz="1800">
              <a:solidFill>
                <a:schemeClr val="lt1"/>
              </a:solidFill>
              <a:latin typeface="Rajdhani"/>
              <a:ea typeface="Rajdhani"/>
              <a:cs typeface="Rajdhani"/>
              <a:sym typeface="Rajdhani"/>
            </a:endParaRPr>
          </a:p>
        </p:txBody>
      </p:sp>
      <p:sp>
        <p:nvSpPr>
          <p:cNvPr id="100" name="Google Shape;100;p18"/>
          <p:cNvSpPr txBox="1"/>
          <p:nvPr>
            <p:ph type="title"/>
          </p:nvPr>
        </p:nvSpPr>
        <p:spPr>
          <a:xfrm>
            <a:off x="311575"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t>Analiza Kodi</a:t>
            </a:r>
            <a:endParaRPr b="1"/>
          </a:p>
        </p:txBody>
      </p:sp>
      <p:sp>
        <p:nvSpPr>
          <p:cNvPr id="101" name="Google Shape;101;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it"/>
              <a:t>‹#›</a:t>
            </a:fld>
            <a:endParaRPr/>
          </a:p>
        </p:txBody>
      </p:sp>
      <p:sp>
        <p:nvSpPr>
          <p:cNvPr id="102" name="Google Shape;102;p18"/>
          <p:cNvSpPr txBox="1"/>
          <p:nvPr/>
        </p:nvSpPr>
        <p:spPr>
          <a:xfrm>
            <a:off x="0" y="4835700"/>
            <a:ext cx="1121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800">
                <a:solidFill>
                  <a:schemeClr val="dk1"/>
                </a:solidFill>
                <a:latin typeface="Dosis"/>
                <a:ea typeface="Dosis"/>
                <a:cs typeface="Dosis"/>
                <a:sym typeface="Dosis"/>
              </a:rPr>
              <a:t>Rish. MPVx-A-2024-1</a:t>
            </a:r>
            <a:endParaRPr sz="800">
              <a:solidFill>
                <a:schemeClr val="dk1"/>
              </a:solidFill>
              <a:latin typeface="Dosis"/>
              <a:ea typeface="Dosis"/>
              <a:cs typeface="Dosis"/>
              <a:sym typeface="Dosis"/>
            </a:endParaRPr>
          </a:p>
        </p:txBody>
      </p:sp>
      <p:graphicFrame>
        <p:nvGraphicFramePr>
          <p:cNvPr id="103" name="Google Shape;103;p18"/>
          <p:cNvGraphicFramePr/>
          <p:nvPr/>
        </p:nvGraphicFramePr>
        <p:xfrm>
          <a:off x="360000" y="1017725"/>
          <a:ext cx="3000000" cy="3000000"/>
        </p:xfrm>
        <a:graphic>
          <a:graphicData uri="http://schemas.openxmlformats.org/drawingml/2006/table">
            <a:tbl>
              <a:tblPr>
                <a:noFill/>
                <a:tableStyleId>{0A4126AA-40AA-495C-8D76-F601D0DB7661}</a:tableStyleId>
              </a:tblPr>
              <a:tblGrid>
                <a:gridCol w="2736000"/>
                <a:gridCol w="2844000"/>
                <a:gridCol w="2880000"/>
              </a:tblGrid>
              <a:tr h="329200">
                <a:tc>
                  <a:txBody>
                    <a:bodyPr/>
                    <a:lstStyle/>
                    <a:p>
                      <a:pPr indent="0" lvl="0" marL="0" rtl="0" algn="ctr">
                        <a:lnSpc>
                          <a:spcPct val="115000"/>
                        </a:lnSpc>
                        <a:spcBef>
                          <a:spcPts val="0"/>
                        </a:spcBef>
                        <a:spcAft>
                          <a:spcPts val="0"/>
                        </a:spcAft>
                        <a:buNone/>
                      </a:pPr>
                      <a:r>
                        <a:rPr b="1" lang="it" sz="1100"/>
                        <a:t>Elementi</a:t>
                      </a:r>
                      <a:endParaRPr b="1" sz="1100"/>
                    </a:p>
                  </a:txBody>
                  <a:tcPr marT="91425" marB="91425" marR="91425" marL="91425"/>
                </a:tc>
                <a:tc>
                  <a:txBody>
                    <a:bodyPr/>
                    <a:lstStyle/>
                    <a:p>
                      <a:pPr indent="0" lvl="0" marL="0" rtl="0" algn="ctr">
                        <a:lnSpc>
                          <a:spcPct val="115000"/>
                        </a:lnSpc>
                        <a:spcBef>
                          <a:spcPts val="0"/>
                        </a:spcBef>
                        <a:spcAft>
                          <a:spcPts val="0"/>
                        </a:spcAft>
                        <a:buNone/>
                      </a:pPr>
                      <a:r>
                        <a:rPr b="1" lang="it" sz="1100" u="sng">
                          <a:solidFill>
                            <a:schemeClr val="hlink"/>
                          </a:solidFill>
                          <a:hlinkClick r:id="rId3"/>
                        </a:rPr>
                        <a:t>Kodi Simulim (LCD klasik)</a:t>
                      </a:r>
                      <a:endParaRPr b="1" sz="1100"/>
                    </a:p>
                  </a:txBody>
                  <a:tcPr marT="91425" marB="91425" marR="91425" marL="91425"/>
                </a:tc>
                <a:tc>
                  <a:txBody>
                    <a:bodyPr/>
                    <a:lstStyle/>
                    <a:p>
                      <a:pPr indent="0" lvl="0" marL="0" rtl="0" algn="ctr">
                        <a:lnSpc>
                          <a:spcPct val="115000"/>
                        </a:lnSpc>
                        <a:spcBef>
                          <a:spcPts val="0"/>
                        </a:spcBef>
                        <a:spcAft>
                          <a:spcPts val="0"/>
                        </a:spcAft>
                        <a:buNone/>
                      </a:pPr>
                      <a:r>
                        <a:rPr b="1" lang="it" sz="1100" u="sng">
                          <a:solidFill>
                            <a:schemeClr val="hlink"/>
                          </a:solidFill>
                          <a:hlinkClick r:id="rId4"/>
                        </a:rPr>
                        <a:t>Kodi real (LCD me I2C)</a:t>
                      </a:r>
                      <a:endParaRPr b="1" sz="1100"/>
                    </a:p>
                  </a:txBody>
                  <a:tcPr marT="91425" marB="91425" marR="91425" marL="91425"/>
                </a:tc>
              </a:tr>
              <a:tr h="329200">
                <a:tc>
                  <a:txBody>
                    <a:bodyPr/>
                    <a:lstStyle/>
                    <a:p>
                      <a:pPr indent="0" lvl="0" marL="0" rtl="0" algn="l">
                        <a:spcBef>
                          <a:spcPts val="0"/>
                        </a:spcBef>
                        <a:spcAft>
                          <a:spcPts val="0"/>
                        </a:spcAft>
                        <a:buNone/>
                      </a:pPr>
                      <a:r>
                        <a:rPr b="1" lang="it" sz="1100"/>
                        <a:t>Libraria LCD</a:t>
                      </a:r>
                      <a:endParaRPr b="1" sz="1100"/>
                    </a:p>
                  </a:txBody>
                  <a:tcPr marT="91425" marB="91425" marR="91425" marL="91425"/>
                </a:tc>
                <a:tc>
                  <a:txBody>
                    <a:bodyPr/>
                    <a:lstStyle/>
                    <a:p>
                      <a:pPr indent="0" lvl="0" marL="0" rtl="0" algn="l">
                        <a:spcBef>
                          <a:spcPts val="0"/>
                        </a:spcBef>
                        <a:spcAft>
                          <a:spcPts val="0"/>
                        </a:spcAft>
                        <a:buNone/>
                      </a:pPr>
                      <a:r>
                        <a:rPr lang="it" sz="1100">
                          <a:solidFill>
                            <a:srgbClr val="188038"/>
                          </a:solidFill>
                          <a:latin typeface="Roboto Mono"/>
                          <a:ea typeface="Roboto Mono"/>
                          <a:cs typeface="Roboto Mono"/>
                          <a:sym typeface="Roboto Mono"/>
                        </a:rPr>
                        <a:t>LiquidCrystal</a:t>
                      </a:r>
                      <a:r>
                        <a:rPr lang="it" sz="1100"/>
                        <a:t> (me pin-e digjitale)</a:t>
                      </a:r>
                      <a:endParaRPr sz="1100"/>
                    </a:p>
                  </a:txBody>
                  <a:tcPr marT="91425" marB="91425" marR="91425" marL="91425"/>
                </a:tc>
                <a:tc>
                  <a:txBody>
                    <a:bodyPr/>
                    <a:lstStyle/>
                    <a:p>
                      <a:pPr indent="0" lvl="0" marL="0" rtl="0" algn="l">
                        <a:spcBef>
                          <a:spcPts val="0"/>
                        </a:spcBef>
                        <a:spcAft>
                          <a:spcPts val="0"/>
                        </a:spcAft>
                        <a:buNone/>
                      </a:pPr>
                      <a:r>
                        <a:rPr lang="it" sz="1100">
                          <a:solidFill>
                            <a:srgbClr val="188038"/>
                          </a:solidFill>
                          <a:latin typeface="Roboto Mono"/>
                          <a:ea typeface="Roboto Mono"/>
                          <a:cs typeface="Roboto Mono"/>
                          <a:sym typeface="Roboto Mono"/>
                        </a:rPr>
                        <a:t>LiquidCrystal_I2C</a:t>
                      </a:r>
                      <a:r>
                        <a:rPr lang="it" sz="1100"/>
                        <a:t> (me I2C)</a:t>
                      </a:r>
                      <a:endParaRPr sz="1100"/>
                    </a:p>
                  </a:txBody>
                  <a:tcPr marT="91425" marB="91425" marR="91425" marL="91425"/>
                </a:tc>
              </a:tr>
              <a:tr h="329200">
                <a:tc>
                  <a:txBody>
                    <a:bodyPr/>
                    <a:lstStyle/>
                    <a:p>
                      <a:pPr indent="0" lvl="0" marL="0" rtl="0" algn="l">
                        <a:spcBef>
                          <a:spcPts val="0"/>
                        </a:spcBef>
                        <a:spcAft>
                          <a:spcPts val="0"/>
                        </a:spcAft>
                        <a:buNone/>
                      </a:pPr>
                      <a:r>
                        <a:rPr b="1" lang="it" sz="1100"/>
                        <a:t>Përdorimi i LCD-së</a:t>
                      </a:r>
                      <a:endParaRPr b="1" sz="1100"/>
                    </a:p>
                  </a:txBody>
                  <a:tcPr marT="91425" marB="91425" marR="91425" marL="91425"/>
                </a:tc>
                <a:tc>
                  <a:txBody>
                    <a:bodyPr/>
                    <a:lstStyle/>
                    <a:p>
                      <a:pPr indent="0" lvl="0" marL="0" rtl="0" algn="l">
                        <a:spcBef>
                          <a:spcPts val="0"/>
                        </a:spcBef>
                        <a:spcAft>
                          <a:spcPts val="0"/>
                        </a:spcAft>
                        <a:buNone/>
                      </a:pPr>
                      <a:r>
                        <a:rPr lang="it" sz="1100"/>
                        <a:t>Pinët 2–7 të zënë për ekranin</a:t>
                      </a:r>
                      <a:endParaRPr sz="1100"/>
                    </a:p>
                  </a:txBody>
                  <a:tcPr marT="91425" marB="91425" marR="91425" marL="91425"/>
                </a:tc>
                <a:tc>
                  <a:txBody>
                    <a:bodyPr/>
                    <a:lstStyle/>
                    <a:p>
                      <a:pPr indent="0" lvl="0" marL="0" rtl="0" algn="l">
                        <a:spcBef>
                          <a:spcPts val="0"/>
                        </a:spcBef>
                        <a:spcAft>
                          <a:spcPts val="0"/>
                        </a:spcAft>
                        <a:buNone/>
                      </a:pPr>
                      <a:r>
                        <a:rPr lang="it" sz="1100"/>
                        <a:t>Vetëm 2 pinë për I2C (A4, A5)</a:t>
                      </a:r>
                      <a:endParaRPr sz="1100"/>
                    </a:p>
                  </a:txBody>
                  <a:tcPr marT="91425" marB="91425" marR="91425" marL="91425"/>
                </a:tc>
              </a:tr>
              <a:tr h="329200">
                <a:tc>
                  <a:txBody>
                    <a:bodyPr/>
                    <a:lstStyle/>
                    <a:p>
                      <a:pPr indent="0" lvl="0" marL="0" rtl="0" algn="l">
                        <a:spcBef>
                          <a:spcPts val="0"/>
                        </a:spcBef>
                        <a:spcAft>
                          <a:spcPts val="0"/>
                        </a:spcAft>
                        <a:buNone/>
                      </a:pPr>
                      <a:r>
                        <a:rPr b="1" lang="it" sz="1100"/>
                        <a:t>Ndarësi i tensionit</a:t>
                      </a:r>
                      <a:endParaRPr b="1" sz="1100"/>
                    </a:p>
                  </a:txBody>
                  <a:tcPr marT="91425" marB="91425" marR="91425" marL="91425"/>
                </a:tc>
                <a:tc>
                  <a:txBody>
                    <a:bodyPr/>
                    <a:lstStyle/>
                    <a:p>
                      <a:pPr indent="0" lvl="0" marL="0" rtl="0" algn="l">
                        <a:spcBef>
                          <a:spcPts val="0"/>
                        </a:spcBef>
                        <a:spcAft>
                          <a:spcPts val="0"/>
                        </a:spcAft>
                        <a:buNone/>
                      </a:pPr>
                      <a:r>
                        <a:rPr lang="it" sz="1100"/>
                        <a:t>Koeficienti: </a:t>
                      </a:r>
                      <a:r>
                        <a:rPr b="1" lang="it" sz="1100"/>
                        <a:t>80.0</a:t>
                      </a:r>
                      <a:endParaRPr b="1" sz="1100"/>
                    </a:p>
                  </a:txBody>
                  <a:tcPr marT="91425" marB="91425" marR="91425" marL="91425"/>
                </a:tc>
                <a:tc>
                  <a:txBody>
                    <a:bodyPr/>
                    <a:lstStyle/>
                    <a:p>
                      <a:pPr indent="0" lvl="0" marL="0" rtl="0" algn="l">
                        <a:spcBef>
                          <a:spcPts val="0"/>
                        </a:spcBef>
                        <a:spcAft>
                          <a:spcPts val="0"/>
                        </a:spcAft>
                        <a:buNone/>
                      </a:pPr>
                      <a:r>
                        <a:rPr lang="it" sz="1100"/>
                        <a:t>Koeficienti: </a:t>
                      </a:r>
                      <a:r>
                        <a:rPr b="1" lang="it" sz="1100"/>
                        <a:t>72.5</a:t>
                      </a:r>
                      <a:endParaRPr b="1" sz="1100"/>
                    </a:p>
                  </a:txBody>
                  <a:tcPr marT="91425" marB="91425" marR="91425" marL="91425"/>
                </a:tc>
              </a:tr>
              <a:tr h="329200">
                <a:tc>
                  <a:txBody>
                    <a:bodyPr/>
                    <a:lstStyle/>
                    <a:p>
                      <a:pPr indent="0" lvl="0" marL="0" rtl="0" algn="l">
                        <a:spcBef>
                          <a:spcPts val="0"/>
                        </a:spcBef>
                        <a:spcAft>
                          <a:spcPts val="0"/>
                        </a:spcAft>
                        <a:buNone/>
                      </a:pPr>
                      <a:r>
                        <a:rPr b="1" lang="it" sz="1100"/>
                        <a:t>Kalibrim tensioni</a:t>
                      </a:r>
                      <a:endParaRPr b="1" sz="1100"/>
                    </a:p>
                  </a:txBody>
                  <a:tcPr marT="91425" marB="91425" marR="91425" marL="91425"/>
                </a:tc>
                <a:tc>
                  <a:txBody>
                    <a:bodyPr/>
                    <a:lstStyle/>
                    <a:p>
                      <a:pPr indent="0" lvl="0" marL="0" rtl="0" algn="l">
                        <a:spcBef>
                          <a:spcPts val="0"/>
                        </a:spcBef>
                        <a:spcAft>
                          <a:spcPts val="0"/>
                        </a:spcAft>
                        <a:buNone/>
                      </a:pPr>
                      <a:r>
                        <a:rPr lang="it" sz="1100"/>
                        <a:t>Pa korrigjim</a:t>
                      </a:r>
                      <a:endParaRPr sz="1100"/>
                    </a:p>
                  </a:txBody>
                  <a:tcPr marT="91425" marB="91425" marR="91425" marL="91425"/>
                </a:tc>
                <a:tc>
                  <a:txBody>
                    <a:bodyPr/>
                    <a:lstStyle/>
                    <a:p>
                      <a:pPr indent="0" lvl="0" marL="0" rtl="0" algn="l">
                        <a:spcBef>
                          <a:spcPts val="0"/>
                        </a:spcBef>
                        <a:spcAft>
                          <a:spcPts val="0"/>
                        </a:spcAft>
                        <a:buNone/>
                      </a:pPr>
                      <a:r>
                        <a:rPr lang="it" sz="1100"/>
                        <a:t>+1.4 V pas përllogaritjes</a:t>
                      </a:r>
                      <a:endParaRPr sz="1100"/>
                    </a:p>
                  </a:txBody>
                  <a:tcPr marT="91425" marB="91425" marR="91425" marL="91425"/>
                </a:tc>
              </a:tr>
              <a:tr h="329200">
                <a:tc>
                  <a:txBody>
                    <a:bodyPr/>
                    <a:lstStyle/>
                    <a:p>
                      <a:pPr indent="0" lvl="0" marL="0" rtl="0" algn="l">
                        <a:spcBef>
                          <a:spcPts val="0"/>
                        </a:spcBef>
                        <a:spcAft>
                          <a:spcPts val="0"/>
                        </a:spcAft>
                        <a:buNone/>
                      </a:pPr>
                      <a:r>
                        <a:rPr b="1" lang="it" sz="1100"/>
                        <a:t>Kalibrim rryme</a:t>
                      </a:r>
                      <a:endParaRPr b="1" sz="1100"/>
                    </a:p>
                  </a:txBody>
                  <a:tcPr marT="91425" marB="91425" marR="91425" marL="91425"/>
                </a:tc>
                <a:tc>
                  <a:txBody>
                    <a:bodyPr/>
                    <a:lstStyle/>
                    <a:p>
                      <a:pPr indent="0" lvl="0" marL="0" rtl="0" algn="l">
                        <a:spcBef>
                          <a:spcPts val="0"/>
                        </a:spcBef>
                        <a:spcAft>
                          <a:spcPts val="0"/>
                        </a:spcAft>
                        <a:buNone/>
                      </a:pPr>
                      <a:r>
                        <a:rPr lang="it" sz="1100"/>
                        <a:t>Pa korrigjim</a:t>
                      </a:r>
                      <a:endParaRPr sz="1100"/>
                    </a:p>
                  </a:txBody>
                  <a:tcPr marT="91425" marB="91425" marR="91425" marL="91425"/>
                </a:tc>
                <a:tc>
                  <a:txBody>
                    <a:bodyPr/>
                    <a:lstStyle/>
                    <a:p>
                      <a:pPr indent="0" lvl="0" marL="0" rtl="0" algn="l">
                        <a:spcBef>
                          <a:spcPts val="0"/>
                        </a:spcBef>
                        <a:spcAft>
                          <a:spcPts val="0"/>
                        </a:spcAft>
                        <a:buNone/>
                      </a:pPr>
                      <a:r>
                        <a:rPr lang="it" sz="1100"/>
                        <a:t>-0.3 A pas përllogaritjes</a:t>
                      </a:r>
                      <a:endParaRPr sz="1100"/>
                    </a:p>
                  </a:txBody>
                  <a:tcPr marT="91425" marB="91425" marR="91425" marL="91425"/>
                </a:tc>
              </a:tr>
              <a:tr h="329200">
                <a:tc>
                  <a:txBody>
                    <a:bodyPr/>
                    <a:lstStyle/>
                    <a:p>
                      <a:pPr indent="0" lvl="0" marL="0" rtl="0" algn="l">
                        <a:spcBef>
                          <a:spcPts val="0"/>
                        </a:spcBef>
                        <a:spcAft>
                          <a:spcPts val="0"/>
                        </a:spcAft>
                        <a:buNone/>
                      </a:pPr>
                      <a:r>
                        <a:rPr b="1" lang="it" sz="1100"/>
                        <a:t>Faktor fuqie (Power Factor)</a:t>
                      </a:r>
                      <a:endParaRPr b="1" sz="1100"/>
                    </a:p>
                  </a:txBody>
                  <a:tcPr marT="91425" marB="91425" marR="91425" marL="91425"/>
                </a:tc>
                <a:tc>
                  <a:txBody>
                    <a:bodyPr/>
                    <a:lstStyle/>
                    <a:p>
                      <a:pPr indent="0" lvl="0" marL="0" rtl="0" algn="l">
                        <a:spcBef>
                          <a:spcPts val="0"/>
                        </a:spcBef>
                        <a:spcAft>
                          <a:spcPts val="0"/>
                        </a:spcAft>
                        <a:buNone/>
                      </a:pPr>
                      <a:r>
                        <a:rPr lang="it" sz="1100"/>
                        <a:t>Nuk përdoret</a:t>
                      </a:r>
                      <a:endParaRPr sz="1100"/>
                    </a:p>
                  </a:txBody>
                  <a:tcPr marT="91425" marB="91425" marR="91425" marL="91425"/>
                </a:tc>
                <a:tc>
                  <a:txBody>
                    <a:bodyPr/>
                    <a:lstStyle/>
                    <a:p>
                      <a:pPr indent="0" lvl="0" marL="0" rtl="0" algn="l">
                        <a:spcBef>
                          <a:spcPts val="0"/>
                        </a:spcBef>
                        <a:spcAft>
                          <a:spcPts val="0"/>
                        </a:spcAft>
                        <a:buNone/>
                      </a:pPr>
                      <a:r>
                        <a:rPr lang="it" sz="1100"/>
                        <a:t>Përdoret: </a:t>
                      </a:r>
                      <a:r>
                        <a:rPr b="1" lang="it" sz="1100"/>
                        <a:t>0.9</a:t>
                      </a:r>
                      <a:endParaRPr b="1" sz="1100"/>
                    </a:p>
                  </a:txBody>
                  <a:tcPr marT="91425" marB="91425" marR="91425" marL="91425"/>
                </a:tc>
              </a:tr>
              <a:tr h="329200">
                <a:tc>
                  <a:txBody>
                    <a:bodyPr/>
                    <a:lstStyle/>
                    <a:p>
                      <a:pPr indent="0" lvl="0" marL="0" rtl="0" algn="l">
                        <a:spcBef>
                          <a:spcPts val="0"/>
                        </a:spcBef>
                        <a:spcAft>
                          <a:spcPts val="0"/>
                        </a:spcAft>
                        <a:buNone/>
                      </a:pPr>
                      <a:r>
                        <a:rPr b="1" lang="it" sz="1100"/>
                        <a:t>Shfaqje në serial</a:t>
                      </a:r>
                      <a:endParaRPr b="1" sz="1100"/>
                    </a:p>
                  </a:txBody>
                  <a:tcPr marT="91425" marB="91425" marR="91425" marL="91425"/>
                </a:tc>
                <a:tc>
                  <a:txBody>
                    <a:bodyPr/>
                    <a:lstStyle/>
                    <a:p>
                      <a:pPr indent="0" lvl="0" marL="0" rtl="0" algn="l">
                        <a:spcBef>
                          <a:spcPts val="0"/>
                        </a:spcBef>
                        <a:spcAft>
                          <a:spcPts val="0"/>
                        </a:spcAft>
                        <a:buNone/>
                      </a:pPr>
                      <a:r>
                        <a:rPr lang="it" sz="1100"/>
                        <a:t>Jo</a:t>
                      </a:r>
                      <a:endParaRPr sz="1100"/>
                    </a:p>
                  </a:txBody>
                  <a:tcPr marT="91425" marB="91425" marR="91425" marL="91425"/>
                </a:tc>
                <a:tc>
                  <a:txBody>
                    <a:bodyPr/>
                    <a:lstStyle/>
                    <a:p>
                      <a:pPr indent="0" lvl="0" marL="0" rtl="0" algn="l">
                        <a:spcBef>
                          <a:spcPts val="0"/>
                        </a:spcBef>
                        <a:spcAft>
                          <a:spcPts val="0"/>
                        </a:spcAft>
                        <a:buNone/>
                      </a:pPr>
                      <a:r>
                        <a:rPr lang="it" sz="1100"/>
                        <a:t>Po (</a:t>
                      </a:r>
                      <a:r>
                        <a:rPr lang="it" sz="1100">
                          <a:solidFill>
                            <a:srgbClr val="188038"/>
                          </a:solidFill>
                          <a:latin typeface="Roboto Mono"/>
                          <a:ea typeface="Roboto Mono"/>
                          <a:cs typeface="Roboto Mono"/>
                          <a:sym typeface="Roboto Mono"/>
                        </a:rPr>
                        <a:t>Vrms</a:t>
                      </a:r>
                      <a:r>
                        <a:rPr lang="it" sz="1100"/>
                        <a:t>, </a:t>
                      </a:r>
                      <a:r>
                        <a:rPr lang="it" sz="1100">
                          <a:solidFill>
                            <a:srgbClr val="188038"/>
                          </a:solidFill>
                          <a:latin typeface="Roboto Mono"/>
                          <a:ea typeface="Roboto Mono"/>
                          <a:cs typeface="Roboto Mono"/>
                          <a:sym typeface="Roboto Mono"/>
                        </a:rPr>
                        <a:t>Irms</a:t>
                      </a:r>
                      <a:r>
                        <a:rPr lang="it" sz="1100"/>
                        <a:t>)</a:t>
                      </a:r>
                      <a:endParaRPr sz="1100"/>
                    </a:p>
                  </a:txBody>
                  <a:tcPr marT="91425" marB="91425" marR="91425" marL="91425"/>
                </a:tc>
              </a:tr>
              <a:tr h="329200">
                <a:tc>
                  <a:txBody>
                    <a:bodyPr/>
                    <a:lstStyle/>
                    <a:p>
                      <a:pPr indent="0" lvl="0" marL="0" rtl="0" algn="l">
                        <a:spcBef>
                          <a:spcPts val="0"/>
                        </a:spcBef>
                        <a:spcAft>
                          <a:spcPts val="0"/>
                        </a:spcAft>
                        <a:buNone/>
                      </a:pPr>
                      <a:r>
                        <a:rPr b="1" lang="it" sz="1100"/>
                        <a:t>Freskimi i ekranit</a:t>
                      </a:r>
                      <a:endParaRPr b="1" sz="1100"/>
                    </a:p>
                  </a:txBody>
                  <a:tcPr marT="91425" marB="91425" marR="91425" marL="91425"/>
                </a:tc>
                <a:tc>
                  <a:txBody>
                    <a:bodyPr/>
                    <a:lstStyle/>
                    <a:p>
                      <a:pPr indent="0" lvl="0" marL="0" rtl="0" algn="l">
                        <a:spcBef>
                          <a:spcPts val="0"/>
                        </a:spcBef>
                        <a:spcAft>
                          <a:spcPts val="0"/>
                        </a:spcAft>
                        <a:buNone/>
                      </a:pPr>
                      <a:r>
                        <a:rPr lang="it" sz="1100">
                          <a:solidFill>
                            <a:srgbClr val="188038"/>
                          </a:solidFill>
                          <a:latin typeface="Roboto Mono"/>
                          <a:ea typeface="Roboto Mono"/>
                          <a:cs typeface="Roboto Mono"/>
                          <a:sym typeface="Roboto Mono"/>
                        </a:rPr>
                        <a:t>lcd.clear()</a:t>
                      </a:r>
                      <a:r>
                        <a:rPr lang="it" sz="1100"/>
                        <a:t> – dridhje në ekran</a:t>
                      </a:r>
                      <a:endParaRPr sz="1100"/>
                    </a:p>
                  </a:txBody>
                  <a:tcPr marT="91425" marB="91425" marR="91425" marL="91425"/>
                </a:tc>
                <a:tc>
                  <a:txBody>
                    <a:bodyPr/>
                    <a:lstStyle/>
                    <a:p>
                      <a:pPr indent="0" lvl="0" marL="0" rtl="0" algn="l">
                        <a:spcBef>
                          <a:spcPts val="0"/>
                        </a:spcBef>
                        <a:spcAft>
                          <a:spcPts val="0"/>
                        </a:spcAft>
                        <a:buNone/>
                      </a:pPr>
                      <a:r>
                        <a:rPr lang="it" sz="1100"/>
                        <a:t>Vetëm rifreskim, pa pastrim total</a:t>
                      </a:r>
                      <a:endParaRPr sz="1100"/>
                    </a:p>
                  </a:txBody>
                  <a:tcPr marT="91425" marB="91425" marR="91425" marL="91425"/>
                </a:tc>
              </a:tr>
              <a:tr h="329200">
                <a:tc>
                  <a:txBody>
                    <a:bodyPr/>
                    <a:lstStyle/>
                    <a:p>
                      <a:pPr indent="0" lvl="0" marL="0" rtl="0" algn="l">
                        <a:spcBef>
                          <a:spcPts val="0"/>
                        </a:spcBef>
                        <a:spcAft>
                          <a:spcPts val="0"/>
                        </a:spcAft>
                        <a:buNone/>
                      </a:pPr>
                      <a:r>
                        <a:rPr b="1" lang="it" sz="1100"/>
                        <a:t>Frekuenca rifreskimi</a:t>
                      </a:r>
                      <a:endParaRPr b="1" sz="1100"/>
                    </a:p>
                  </a:txBody>
                  <a:tcPr marT="91425" marB="91425" marR="91425" marL="91425"/>
                </a:tc>
                <a:tc>
                  <a:txBody>
                    <a:bodyPr/>
                    <a:lstStyle/>
                    <a:p>
                      <a:pPr indent="0" lvl="0" marL="0" rtl="0" algn="l">
                        <a:spcBef>
                          <a:spcPts val="0"/>
                        </a:spcBef>
                        <a:spcAft>
                          <a:spcPts val="0"/>
                        </a:spcAft>
                        <a:buNone/>
                      </a:pPr>
                      <a:r>
                        <a:rPr lang="it" sz="1100">
                          <a:solidFill>
                            <a:srgbClr val="188038"/>
                          </a:solidFill>
                          <a:latin typeface="Roboto Mono"/>
                          <a:ea typeface="Roboto Mono"/>
                          <a:cs typeface="Roboto Mono"/>
                          <a:sym typeface="Roboto Mono"/>
                        </a:rPr>
                        <a:t>delay(100)</a:t>
                      </a:r>
                      <a:r>
                        <a:rPr lang="it" sz="1100"/>
                        <a:t> ms</a:t>
                      </a:r>
                      <a:endParaRPr sz="1100"/>
                    </a:p>
                  </a:txBody>
                  <a:tcPr marT="91425" marB="91425" marR="91425" marL="91425"/>
                </a:tc>
                <a:tc>
                  <a:txBody>
                    <a:bodyPr/>
                    <a:lstStyle/>
                    <a:p>
                      <a:pPr indent="0" lvl="0" marL="0" rtl="0" algn="l">
                        <a:spcBef>
                          <a:spcPts val="0"/>
                        </a:spcBef>
                        <a:spcAft>
                          <a:spcPts val="0"/>
                        </a:spcAft>
                        <a:buNone/>
                      </a:pPr>
                      <a:r>
                        <a:rPr lang="it" sz="1100">
                          <a:solidFill>
                            <a:srgbClr val="188038"/>
                          </a:solidFill>
                          <a:latin typeface="Roboto Mono"/>
                          <a:ea typeface="Roboto Mono"/>
                          <a:cs typeface="Roboto Mono"/>
                          <a:sym typeface="Roboto Mono"/>
                        </a:rPr>
                        <a:t>delay(1)</a:t>
                      </a:r>
                      <a:r>
                        <a:rPr lang="it" sz="1100"/>
                        <a:t> ms – më e shpejtë</a:t>
                      </a:r>
                      <a:endParaRPr sz="1100"/>
                    </a:p>
                  </a:txBody>
                  <a:tcPr marT="91425" marB="91425" marR="91425" marL="91425"/>
                </a:tc>
              </a:tr>
              <a:tr h="329200">
                <a:tc>
                  <a:txBody>
                    <a:bodyPr/>
                    <a:lstStyle/>
                    <a:p>
                      <a:pPr indent="0" lvl="0" marL="0" rtl="0" algn="l">
                        <a:spcBef>
                          <a:spcPts val="0"/>
                        </a:spcBef>
                        <a:spcAft>
                          <a:spcPts val="0"/>
                        </a:spcAft>
                        <a:buNone/>
                      </a:pPr>
                      <a:r>
                        <a:rPr b="1" lang="it" sz="1100"/>
                        <a:t>Saktësi &amp; optimizim</a:t>
                      </a:r>
                      <a:endParaRPr b="1" sz="1100"/>
                    </a:p>
                  </a:txBody>
                  <a:tcPr marT="91425" marB="91425" marR="91425" marL="91425"/>
                </a:tc>
                <a:tc>
                  <a:txBody>
                    <a:bodyPr/>
                    <a:lstStyle/>
                    <a:p>
                      <a:pPr indent="0" lvl="0" marL="0" rtl="0" algn="l">
                        <a:spcBef>
                          <a:spcPts val="0"/>
                        </a:spcBef>
                        <a:spcAft>
                          <a:spcPts val="0"/>
                        </a:spcAft>
                        <a:buNone/>
                      </a:pPr>
                      <a:r>
                        <a:rPr lang="it" sz="1100"/>
                        <a:t>Bazik</a:t>
                      </a:r>
                      <a:endParaRPr sz="1100"/>
                    </a:p>
                  </a:txBody>
                  <a:tcPr marT="91425" marB="91425" marR="91425" marL="91425"/>
                </a:tc>
                <a:tc>
                  <a:txBody>
                    <a:bodyPr/>
                    <a:lstStyle/>
                    <a:p>
                      <a:pPr indent="0" lvl="0" marL="0" rtl="0" algn="l">
                        <a:spcBef>
                          <a:spcPts val="0"/>
                        </a:spcBef>
                        <a:spcAft>
                          <a:spcPts val="0"/>
                        </a:spcAft>
                        <a:buNone/>
                      </a:pPr>
                      <a:r>
                        <a:rPr lang="it" sz="1100"/>
                        <a:t>Më i kalibruar dhe më efikas</a:t>
                      </a:r>
                      <a:endParaRPr sz="1100"/>
                    </a:p>
                  </a:txBody>
                  <a:tcPr marT="91425" marB="91425" marR="91425" marL="91425"/>
                </a:tc>
              </a:tr>
            </a:tbl>
          </a:graphicData>
        </a:graphic>
      </p:graphicFrame>
    </p:spTree>
  </p:cSld>
  <p:clrMapOvr>
    <a:masterClrMapping/>
  </p:clrMapOvr>
  <mc:AlternateContent>
    <mc:Choice Requires="p14">
      <p:transition spd="slow" p14:dur="1000">
        <p:fade thruBlk="1"/>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7" name="Shape 107"/>
        <p:cNvGrpSpPr/>
        <p:nvPr/>
      </p:nvGrpSpPr>
      <p:grpSpPr>
        <a:xfrm>
          <a:off x="0" y="0"/>
          <a:ext cx="0" cy="0"/>
          <a:chOff x="0" y="0"/>
          <a:chExt cx="0" cy="0"/>
        </a:xfrm>
      </p:grpSpPr>
      <p:sp>
        <p:nvSpPr>
          <p:cNvPr id="108" name="Google Shape;108;p19"/>
          <p:cNvSpPr/>
          <p:nvPr/>
        </p:nvSpPr>
        <p:spPr>
          <a:xfrm>
            <a:off x="0" y="0"/>
            <a:ext cx="9144000" cy="307800"/>
          </a:xfrm>
          <a:prstGeom prst="roundRect">
            <a:avLst>
              <a:gd fmla="val 0" name="adj"/>
            </a:avLst>
          </a:prstGeom>
          <a:solidFill>
            <a:srgbClr val="003A65"/>
          </a:solid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b="1" lang="it" sz="1800">
                <a:solidFill>
                  <a:schemeClr val="lt1"/>
                </a:solidFill>
                <a:latin typeface="Rajdhani"/>
                <a:ea typeface="Rajdhani"/>
                <a:cs typeface="Rajdhani"/>
                <a:sym typeface="Rajdhani"/>
              </a:rPr>
              <a:t>HFI 2024-2025 										</a:t>
            </a:r>
            <a:r>
              <a:rPr lang="it" sz="1800">
                <a:solidFill>
                  <a:schemeClr val="lt1"/>
                </a:solidFill>
                <a:latin typeface="Rajdhani"/>
                <a:ea typeface="Rajdhani"/>
                <a:cs typeface="Rajdhani"/>
                <a:sym typeface="Rajdhani"/>
              </a:rPr>
              <a:t>DEPARTAMENTI ELEKTRONIKË</a:t>
            </a:r>
            <a:endParaRPr sz="1800">
              <a:solidFill>
                <a:schemeClr val="lt1"/>
              </a:solidFill>
              <a:latin typeface="Rajdhani"/>
              <a:ea typeface="Rajdhani"/>
              <a:cs typeface="Rajdhani"/>
              <a:sym typeface="Rajdhani"/>
            </a:endParaRPr>
          </a:p>
        </p:txBody>
      </p:sp>
      <p:sp>
        <p:nvSpPr>
          <p:cNvPr id="109" name="Google Shape;109;p19"/>
          <p:cNvSpPr txBox="1"/>
          <p:nvPr>
            <p:ph type="title"/>
          </p:nvPr>
        </p:nvSpPr>
        <p:spPr>
          <a:xfrm>
            <a:off x="311575"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t>Lënda Matje elektronike - Pjesa praktike</a:t>
            </a:r>
            <a:endParaRPr b="1"/>
          </a:p>
        </p:txBody>
      </p:sp>
      <p:sp>
        <p:nvSpPr>
          <p:cNvPr id="110" name="Google Shape;110;p1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solidFill>
                  <a:schemeClr val="dk1"/>
                </a:solidFill>
                <a:latin typeface="Arial Narrow"/>
                <a:ea typeface="Arial Narrow"/>
                <a:cs typeface="Arial Narrow"/>
                <a:sym typeface="Arial Narrow"/>
              </a:rPr>
              <a:t>Përshkrim i shkurtër në lidhje me temën ku do ti jepni përgjigje këtyre pyetjeve:</a:t>
            </a:r>
            <a:endParaRPr>
              <a:solidFill>
                <a:schemeClr val="dk1"/>
              </a:solidFill>
              <a:latin typeface="Arial Narrow"/>
              <a:ea typeface="Arial Narrow"/>
              <a:cs typeface="Arial Narrow"/>
              <a:sym typeface="Arial Narrow"/>
            </a:endParaRPr>
          </a:p>
          <a:p>
            <a:pPr indent="-342900" lvl="0" marL="457200" rtl="0" algn="l">
              <a:spcBef>
                <a:spcPts val="1600"/>
              </a:spcBef>
              <a:spcAft>
                <a:spcPts val="0"/>
              </a:spcAft>
              <a:buClr>
                <a:schemeClr val="dk1"/>
              </a:buClr>
              <a:buSzPts val="1800"/>
              <a:buFont typeface="Arial Narrow"/>
              <a:buChar char="●"/>
            </a:pPr>
            <a:r>
              <a:rPr lang="it">
                <a:solidFill>
                  <a:schemeClr val="dk1"/>
                </a:solidFill>
                <a:latin typeface="Arial Narrow"/>
                <a:ea typeface="Arial Narrow"/>
                <a:cs typeface="Arial Narrow"/>
                <a:sym typeface="Arial Narrow"/>
              </a:rPr>
              <a:t>Sqarim për pjesën praktike, realizimi, qarku, matje dhe krahasime me modelin e simuluar.</a:t>
            </a:r>
            <a:endParaRPr>
              <a:solidFill>
                <a:schemeClr val="dk1"/>
              </a:solidFill>
              <a:latin typeface="Arial Narrow"/>
              <a:ea typeface="Arial Narrow"/>
              <a:cs typeface="Arial Narrow"/>
              <a:sym typeface="Arial Narrow"/>
            </a:endParaRPr>
          </a:p>
          <a:p>
            <a:pPr indent="-342900" lvl="0" marL="457200" rtl="0" algn="l">
              <a:spcBef>
                <a:spcPts val="0"/>
              </a:spcBef>
              <a:spcAft>
                <a:spcPts val="0"/>
              </a:spcAft>
              <a:buClr>
                <a:schemeClr val="dk1"/>
              </a:buClr>
              <a:buSzPts val="1800"/>
              <a:buFont typeface="Arial Narrow"/>
              <a:buChar char="●"/>
            </a:pPr>
            <a:r>
              <a:rPr lang="it">
                <a:solidFill>
                  <a:schemeClr val="dk1"/>
                </a:solidFill>
                <a:latin typeface="Arial Narrow"/>
                <a:ea typeface="Arial Narrow"/>
                <a:cs typeface="Arial Narrow"/>
                <a:sym typeface="Arial Narrow"/>
              </a:rPr>
              <a:t>Diagrama të sinjaleve të matura.</a:t>
            </a:r>
            <a:endParaRPr>
              <a:solidFill>
                <a:schemeClr val="dk1"/>
              </a:solidFill>
              <a:latin typeface="Arial Narrow"/>
              <a:ea typeface="Arial Narrow"/>
              <a:cs typeface="Arial Narrow"/>
              <a:sym typeface="Arial Narrow"/>
            </a:endParaRPr>
          </a:p>
          <a:p>
            <a:pPr indent="-342900" lvl="0" marL="457200" rtl="0" algn="l">
              <a:spcBef>
                <a:spcPts val="0"/>
              </a:spcBef>
              <a:spcAft>
                <a:spcPts val="0"/>
              </a:spcAft>
              <a:buClr>
                <a:schemeClr val="dk1"/>
              </a:buClr>
              <a:buSzPts val="1800"/>
              <a:buFont typeface="Arial Narrow"/>
              <a:buChar char="●"/>
            </a:pPr>
            <a:r>
              <a:rPr lang="it">
                <a:solidFill>
                  <a:schemeClr val="dk1"/>
                </a:solidFill>
                <a:latin typeface="Arial Narrow"/>
                <a:ea typeface="Arial Narrow"/>
                <a:cs typeface="Arial Narrow"/>
                <a:sym typeface="Arial Narrow"/>
              </a:rPr>
              <a:t>Krahasim i vlerave të simuluara /llogarituara dhe reale</a:t>
            </a:r>
            <a:endParaRPr>
              <a:solidFill>
                <a:schemeClr val="dk1"/>
              </a:solidFill>
              <a:latin typeface="Arial Narrow"/>
              <a:ea typeface="Arial Narrow"/>
              <a:cs typeface="Arial Narrow"/>
              <a:sym typeface="Arial Narrow"/>
            </a:endParaRPr>
          </a:p>
          <a:p>
            <a:pPr indent="-342900" lvl="0" marL="457200" rtl="0" algn="l">
              <a:spcBef>
                <a:spcPts val="0"/>
              </a:spcBef>
              <a:spcAft>
                <a:spcPts val="0"/>
              </a:spcAft>
              <a:buClr>
                <a:schemeClr val="dk1"/>
              </a:buClr>
              <a:buSzPts val="1800"/>
              <a:buFont typeface="Arial Narrow"/>
              <a:buChar char="●"/>
            </a:pPr>
            <a:r>
              <a:rPr lang="it">
                <a:solidFill>
                  <a:schemeClr val="dk1"/>
                </a:solidFill>
                <a:latin typeface="Arial Narrow"/>
                <a:ea typeface="Arial Narrow"/>
                <a:cs typeface="Arial Narrow"/>
                <a:sym typeface="Arial Narrow"/>
              </a:rPr>
              <a:t>Analiza dhe vlerësimi i gabimeve për instrumentin e krijuar.</a:t>
            </a:r>
            <a:endParaRPr>
              <a:solidFill>
                <a:schemeClr val="dk1"/>
              </a:solidFill>
              <a:latin typeface="Arial Narrow"/>
              <a:ea typeface="Arial Narrow"/>
              <a:cs typeface="Arial Narrow"/>
              <a:sym typeface="Arial Narrow"/>
            </a:endParaRPr>
          </a:p>
          <a:p>
            <a:pPr indent="-342900" lvl="0" marL="457200" rtl="0" algn="l">
              <a:spcBef>
                <a:spcPts val="0"/>
              </a:spcBef>
              <a:spcAft>
                <a:spcPts val="0"/>
              </a:spcAft>
              <a:buClr>
                <a:schemeClr val="dk1"/>
              </a:buClr>
              <a:buSzPts val="1800"/>
              <a:buFont typeface="Arial Narrow"/>
              <a:buChar char="●"/>
            </a:pPr>
            <a:r>
              <a:rPr lang="it">
                <a:solidFill>
                  <a:schemeClr val="dk1"/>
                </a:solidFill>
                <a:latin typeface="Arial Narrow"/>
                <a:ea typeface="Arial Narrow"/>
                <a:cs typeface="Arial Narrow"/>
                <a:sym typeface="Arial Narrow"/>
              </a:rPr>
              <a:t>Diapazoni i matjes së instrumenit të ndërtuar.</a:t>
            </a:r>
            <a:endParaRPr>
              <a:solidFill>
                <a:schemeClr val="dk1"/>
              </a:solidFill>
              <a:latin typeface="Arial Narrow"/>
              <a:ea typeface="Arial Narrow"/>
              <a:cs typeface="Arial Narrow"/>
              <a:sym typeface="Arial Narrow"/>
            </a:endParaRPr>
          </a:p>
          <a:p>
            <a:pPr indent="-342900" lvl="0" marL="457200" rtl="0" algn="l">
              <a:spcBef>
                <a:spcPts val="0"/>
              </a:spcBef>
              <a:spcAft>
                <a:spcPts val="0"/>
              </a:spcAft>
              <a:buClr>
                <a:schemeClr val="dk1"/>
              </a:buClr>
              <a:buSzPts val="1800"/>
              <a:buFont typeface="Arial Narrow"/>
              <a:buChar char="●"/>
            </a:pPr>
            <a:r>
              <a:rPr lang="it">
                <a:solidFill>
                  <a:schemeClr val="dk1"/>
                </a:solidFill>
                <a:latin typeface="Arial Narrow"/>
                <a:ea typeface="Arial Narrow"/>
                <a:cs typeface="Arial Narrow"/>
                <a:sym typeface="Arial Narrow"/>
              </a:rPr>
              <a:t>Metoda e matjes zbatuar në praktikë dhe dokumentimi i matjes.</a:t>
            </a:r>
            <a:endParaRPr>
              <a:solidFill>
                <a:schemeClr val="dk1"/>
              </a:solidFill>
              <a:latin typeface="Arial Narrow"/>
              <a:ea typeface="Arial Narrow"/>
              <a:cs typeface="Arial Narrow"/>
              <a:sym typeface="Arial Narrow"/>
            </a:endParaRPr>
          </a:p>
          <a:p>
            <a:pPr indent="-342900" lvl="0" marL="457200" rtl="0" algn="l">
              <a:spcBef>
                <a:spcPts val="0"/>
              </a:spcBef>
              <a:spcAft>
                <a:spcPts val="0"/>
              </a:spcAft>
              <a:buClr>
                <a:schemeClr val="dk1"/>
              </a:buClr>
              <a:buSzPts val="1800"/>
              <a:buFont typeface="Arial Narrow"/>
              <a:buChar char="●"/>
            </a:pPr>
            <a:r>
              <a:rPr lang="it">
                <a:solidFill>
                  <a:schemeClr val="dk1"/>
                </a:solidFill>
                <a:latin typeface="Arial Narrow"/>
                <a:ea typeface="Arial Narrow"/>
                <a:cs typeface="Arial Narrow"/>
                <a:sym typeface="Arial Narrow"/>
              </a:rPr>
              <a:t>Rezultatet e matjes, raport i matjes konform standartit, normativës apo ligjit.</a:t>
            </a:r>
            <a:endParaRPr>
              <a:solidFill>
                <a:schemeClr val="dk1"/>
              </a:solidFill>
              <a:latin typeface="Arial Narrow"/>
              <a:ea typeface="Arial Narrow"/>
              <a:cs typeface="Arial Narrow"/>
              <a:sym typeface="Arial Narrow"/>
            </a:endParaRPr>
          </a:p>
          <a:p>
            <a:pPr indent="-342900" lvl="0" marL="457200" rtl="0" algn="l">
              <a:spcBef>
                <a:spcPts val="0"/>
              </a:spcBef>
              <a:spcAft>
                <a:spcPts val="0"/>
              </a:spcAft>
              <a:buClr>
                <a:schemeClr val="dk1"/>
              </a:buClr>
              <a:buSzPts val="1800"/>
              <a:buFont typeface="Arial Narrow"/>
              <a:buChar char="●"/>
            </a:pPr>
            <a:r>
              <a:rPr lang="it">
                <a:solidFill>
                  <a:schemeClr val="dk1"/>
                </a:solidFill>
                <a:latin typeface="Arial Narrow"/>
                <a:ea typeface="Arial Narrow"/>
                <a:cs typeface="Arial Narrow"/>
                <a:sym typeface="Arial Narrow"/>
              </a:rPr>
              <a:t>Përfundime</a:t>
            </a:r>
            <a:endParaRPr>
              <a:solidFill>
                <a:schemeClr val="dk1"/>
              </a:solidFill>
              <a:latin typeface="Arial Narrow"/>
              <a:ea typeface="Arial Narrow"/>
              <a:cs typeface="Arial Narrow"/>
              <a:sym typeface="Arial Narrow"/>
            </a:endParaRPr>
          </a:p>
          <a:p>
            <a:pPr indent="0" lvl="0" marL="0" rtl="0" algn="l">
              <a:spcBef>
                <a:spcPts val="1600"/>
              </a:spcBef>
              <a:spcAft>
                <a:spcPts val="1600"/>
              </a:spcAft>
              <a:buNone/>
            </a:pPr>
            <a:r>
              <a:t/>
            </a:r>
            <a:endParaRPr>
              <a:latin typeface="Rajdhani"/>
              <a:ea typeface="Rajdhani"/>
              <a:cs typeface="Rajdhani"/>
              <a:sym typeface="Rajdhani"/>
            </a:endParaRPr>
          </a:p>
        </p:txBody>
      </p:sp>
      <p:sp>
        <p:nvSpPr>
          <p:cNvPr id="111" name="Google Shape;111;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it"/>
              <a:t>‹#›</a:t>
            </a:fld>
            <a:endParaRPr/>
          </a:p>
        </p:txBody>
      </p:sp>
      <p:sp>
        <p:nvSpPr>
          <p:cNvPr id="112" name="Google Shape;112;p19"/>
          <p:cNvSpPr txBox="1"/>
          <p:nvPr/>
        </p:nvSpPr>
        <p:spPr>
          <a:xfrm>
            <a:off x="0" y="4835700"/>
            <a:ext cx="1121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800">
                <a:solidFill>
                  <a:schemeClr val="dk1"/>
                </a:solidFill>
                <a:latin typeface="Dosis"/>
                <a:ea typeface="Dosis"/>
                <a:cs typeface="Dosis"/>
                <a:sym typeface="Dosis"/>
              </a:rPr>
              <a:t>Rish. MPVx-A-2024-1</a:t>
            </a:r>
            <a:endParaRPr sz="800">
              <a:solidFill>
                <a:schemeClr val="dk1"/>
              </a:solidFill>
              <a:latin typeface="Dosis"/>
              <a:ea typeface="Dosis"/>
              <a:cs typeface="Dosis"/>
              <a:sym typeface="Dosis"/>
            </a:endParaRPr>
          </a:p>
        </p:txBody>
      </p:sp>
    </p:spTree>
  </p:cSld>
  <p:clrMapOvr>
    <a:masterClrMapping/>
  </p:clrMapOvr>
  <mc:AlternateContent>
    <mc:Choice Requires="p14">
      <p:transition spd="slow" p14:dur="1000">
        <p:fade thruBlk="1"/>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0"/>
          <p:cNvSpPr/>
          <p:nvPr/>
        </p:nvSpPr>
        <p:spPr>
          <a:xfrm>
            <a:off x="0" y="0"/>
            <a:ext cx="9144000" cy="307800"/>
          </a:xfrm>
          <a:prstGeom prst="roundRect">
            <a:avLst>
              <a:gd fmla="val 0" name="adj"/>
            </a:avLst>
          </a:prstGeom>
          <a:solidFill>
            <a:srgbClr val="003A65"/>
          </a:solid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b="1" lang="it" sz="1800">
                <a:solidFill>
                  <a:schemeClr val="lt1"/>
                </a:solidFill>
                <a:latin typeface="Rajdhani"/>
                <a:ea typeface="Rajdhani"/>
                <a:cs typeface="Rajdhani"/>
                <a:sym typeface="Rajdhani"/>
              </a:rPr>
              <a:t>HFI 2024-2025 										</a:t>
            </a:r>
            <a:r>
              <a:rPr lang="it" sz="1800">
                <a:solidFill>
                  <a:schemeClr val="lt1"/>
                </a:solidFill>
                <a:latin typeface="Rajdhani"/>
                <a:ea typeface="Rajdhani"/>
                <a:cs typeface="Rajdhani"/>
                <a:sym typeface="Rajdhani"/>
              </a:rPr>
              <a:t>DEPARTAMENTI ELEKTRONIKË</a:t>
            </a:r>
            <a:endParaRPr sz="1800">
              <a:solidFill>
                <a:schemeClr val="lt1"/>
              </a:solidFill>
              <a:latin typeface="Rajdhani"/>
              <a:ea typeface="Rajdhani"/>
              <a:cs typeface="Rajdhani"/>
              <a:sym typeface="Rajdhani"/>
            </a:endParaRPr>
          </a:p>
        </p:txBody>
      </p:sp>
      <p:sp>
        <p:nvSpPr>
          <p:cNvPr id="118" name="Google Shape;118;p20"/>
          <p:cNvSpPr txBox="1"/>
          <p:nvPr>
            <p:ph type="title"/>
          </p:nvPr>
        </p:nvSpPr>
        <p:spPr>
          <a:xfrm>
            <a:off x="311575"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t>Lënda Matje elektronike - Pjesa praktike</a:t>
            </a:r>
            <a:endParaRPr b="1"/>
          </a:p>
        </p:txBody>
      </p:sp>
      <p:sp>
        <p:nvSpPr>
          <p:cNvPr id="119" name="Google Shape;119;p2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lang="it" sz="1200"/>
              <a:t>Tema ka për qëllim ndërtimin dhe analizimin praktik të një instrumenti matës për tensionin, rrymën dhe fuqinë elektrike, duke u bazuar në një model të simuluar. Pjesa praktike përfshin ndërtimin e qarkut elektrik me komponentë si Arduino UNO, sensorë, ndarës tensioni dhe ekran LCD. Janë realizuar matje të drejtpërdrejta të parametrave elektrikë dhe krahasimi i tyre me vlerat e simuluara dhe të llogaritura.</a:t>
            </a:r>
            <a:endParaRPr sz="1200"/>
          </a:p>
          <a:p>
            <a:pPr indent="0" lvl="0" marL="0" rtl="0" algn="l">
              <a:spcBef>
                <a:spcPts val="1200"/>
              </a:spcBef>
              <a:spcAft>
                <a:spcPts val="0"/>
              </a:spcAft>
              <a:buClr>
                <a:schemeClr val="dk1"/>
              </a:buClr>
              <a:buSzPts val="1100"/>
              <a:buFont typeface="Arial"/>
              <a:buNone/>
            </a:pPr>
            <a:r>
              <a:rPr lang="it" sz="1200"/>
              <a:t>Gjatë eksperimentit janë matur sinjalet përkatëse dhe janë paraqitur në formë diagramash, duke analizuar ndryshimet mes vlerave teorike dhe reale. Është bërë vlerësimi i gabimeve të mundshme në matje, si dhe diapazoni i funksionimit të instrumentit të ndërtuar. Metoda e matjes është zbatuar në përputhje me kërkesat praktike dhe është dokumentuar sipas standardeve teknike.</a:t>
            </a:r>
            <a:endParaRPr sz="1200"/>
          </a:p>
          <a:p>
            <a:pPr indent="0" lvl="0" marL="0" rtl="0" algn="l">
              <a:spcBef>
                <a:spcPts val="1200"/>
              </a:spcBef>
              <a:spcAft>
                <a:spcPts val="1200"/>
              </a:spcAft>
              <a:buNone/>
            </a:pPr>
            <a:r>
              <a:rPr lang="it" sz="1200"/>
              <a:t>Rezultatet e matjeve janë përpunuar dhe paraqitur në formë raporti, në përputhje me normativat përkatëse. Në përfundim, janë dhënë vlerësime për funksionimin e sistemit dhe janë propozuar përmirësime për rritjen e saktësisë dhe stabilitetit të matjeve.  </a:t>
            </a:r>
            <a:r>
              <a:rPr b="1" lang="it" sz="1200" u="sng">
                <a:solidFill>
                  <a:schemeClr val="hlink"/>
                </a:solidFill>
                <a:hlinkClick r:id="rId3"/>
              </a:rPr>
              <a:t>RAPORTI</a:t>
            </a:r>
            <a:endParaRPr b="1" sz="1200"/>
          </a:p>
        </p:txBody>
      </p:sp>
      <p:sp>
        <p:nvSpPr>
          <p:cNvPr id="120" name="Google Shape;120;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it"/>
              <a:t>‹#›</a:t>
            </a:fld>
            <a:endParaRPr/>
          </a:p>
        </p:txBody>
      </p:sp>
      <p:sp>
        <p:nvSpPr>
          <p:cNvPr id="121" name="Google Shape;121;p20"/>
          <p:cNvSpPr txBox="1"/>
          <p:nvPr/>
        </p:nvSpPr>
        <p:spPr>
          <a:xfrm>
            <a:off x="0" y="4835700"/>
            <a:ext cx="1121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800">
                <a:solidFill>
                  <a:schemeClr val="dk1"/>
                </a:solidFill>
                <a:latin typeface="Dosis"/>
                <a:ea typeface="Dosis"/>
                <a:cs typeface="Dosis"/>
                <a:sym typeface="Dosis"/>
              </a:rPr>
              <a:t>Rish. MPVx-A-2024-1</a:t>
            </a:r>
            <a:endParaRPr sz="800">
              <a:solidFill>
                <a:schemeClr val="dk1"/>
              </a:solidFill>
              <a:latin typeface="Dosis"/>
              <a:ea typeface="Dosis"/>
              <a:cs typeface="Dosis"/>
              <a:sym typeface="Dosis"/>
            </a:endParaRPr>
          </a:p>
        </p:txBody>
      </p:sp>
    </p:spTree>
  </p:cSld>
  <p:clrMapOvr>
    <a:masterClrMapping/>
  </p:clrMapOvr>
  <mc:AlternateContent>
    <mc:Choice Requires="p14">
      <p:transition spd="slow" p14:dur="1000">
        <p:fade thruBlk="1"/>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1"/>
          <p:cNvSpPr/>
          <p:nvPr/>
        </p:nvSpPr>
        <p:spPr>
          <a:xfrm>
            <a:off x="0" y="0"/>
            <a:ext cx="9144000" cy="307800"/>
          </a:xfrm>
          <a:prstGeom prst="roundRect">
            <a:avLst>
              <a:gd fmla="val 0" name="adj"/>
            </a:avLst>
          </a:prstGeom>
          <a:solidFill>
            <a:srgbClr val="003A65"/>
          </a:solid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b="1" lang="it" sz="1800">
                <a:solidFill>
                  <a:schemeClr val="lt1"/>
                </a:solidFill>
                <a:latin typeface="Rajdhani"/>
                <a:ea typeface="Rajdhani"/>
                <a:cs typeface="Rajdhani"/>
                <a:sym typeface="Rajdhani"/>
              </a:rPr>
              <a:t>HFI 2024-2025 										</a:t>
            </a:r>
            <a:r>
              <a:rPr lang="it" sz="1800">
                <a:solidFill>
                  <a:schemeClr val="lt1"/>
                </a:solidFill>
                <a:latin typeface="Rajdhani"/>
                <a:ea typeface="Rajdhani"/>
                <a:cs typeface="Rajdhani"/>
                <a:sym typeface="Rajdhani"/>
              </a:rPr>
              <a:t>DEPARTAMENTI ELEKTRONIKË</a:t>
            </a:r>
            <a:endParaRPr sz="1800">
              <a:solidFill>
                <a:schemeClr val="lt1"/>
              </a:solidFill>
              <a:latin typeface="Rajdhani"/>
              <a:ea typeface="Rajdhani"/>
              <a:cs typeface="Rajdhani"/>
              <a:sym typeface="Rajdhani"/>
            </a:endParaRPr>
          </a:p>
        </p:txBody>
      </p:sp>
      <p:sp>
        <p:nvSpPr>
          <p:cNvPr id="127" name="Google Shape;127;p21"/>
          <p:cNvSpPr txBox="1"/>
          <p:nvPr>
            <p:ph type="title"/>
          </p:nvPr>
        </p:nvSpPr>
        <p:spPr>
          <a:xfrm>
            <a:off x="311575"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u="sng">
                <a:solidFill>
                  <a:srgbClr val="1155CC"/>
                </a:solidFill>
                <a:hlinkClick r:id="rId3">
                  <a:extLst>
                    <a:ext uri="{A12FA001-AC4F-418D-AE19-62706E023703}">
                      <ahyp:hlinkClr val="tx"/>
                    </a:ext>
                  </a:extLst>
                </a:hlinkClick>
              </a:rPr>
              <a:t>Tabela e matjeve</a:t>
            </a:r>
            <a:endParaRPr b="1" u="sng">
              <a:solidFill>
                <a:srgbClr val="1155CC"/>
              </a:solidFill>
            </a:endParaRPr>
          </a:p>
        </p:txBody>
      </p:sp>
      <p:sp>
        <p:nvSpPr>
          <p:cNvPr id="128" name="Google Shape;128;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it"/>
              <a:t>‹#›</a:t>
            </a:fld>
            <a:endParaRPr/>
          </a:p>
        </p:txBody>
      </p:sp>
      <p:sp>
        <p:nvSpPr>
          <p:cNvPr id="129" name="Google Shape;129;p21"/>
          <p:cNvSpPr txBox="1"/>
          <p:nvPr/>
        </p:nvSpPr>
        <p:spPr>
          <a:xfrm>
            <a:off x="0" y="4835700"/>
            <a:ext cx="1121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800">
                <a:solidFill>
                  <a:schemeClr val="dk1"/>
                </a:solidFill>
                <a:latin typeface="Dosis"/>
                <a:ea typeface="Dosis"/>
                <a:cs typeface="Dosis"/>
                <a:sym typeface="Dosis"/>
              </a:rPr>
              <a:t>Rish. MPVx-A-2024-1</a:t>
            </a:r>
            <a:endParaRPr sz="800">
              <a:solidFill>
                <a:schemeClr val="dk1"/>
              </a:solidFill>
              <a:latin typeface="Dosis"/>
              <a:ea typeface="Dosis"/>
              <a:cs typeface="Dosis"/>
              <a:sym typeface="Dosis"/>
            </a:endParaRPr>
          </a:p>
        </p:txBody>
      </p:sp>
      <p:graphicFrame>
        <p:nvGraphicFramePr>
          <p:cNvPr id="130" name="Google Shape;130;p21"/>
          <p:cNvGraphicFramePr/>
          <p:nvPr/>
        </p:nvGraphicFramePr>
        <p:xfrm>
          <a:off x="1238125" y="1154950"/>
          <a:ext cx="3000000" cy="3000000"/>
        </p:xfrm>
        <a:graphic>
          <a:graphicData uri="http://schemas.openxmlformats.org/drawingml/2006/table">
            <a:tbl>
              <a:tblPr>
                <a:noFill/>
                <a:tableStyleId>{3B5B441B-72FE-49E2-B34B-7864A7B42951}</a:tableStyleId>
              </a:tblPr>
              <a:tblGrid>
                <a:gridCol w="952500"/>
                <a:gridCol w="952500"/>
                <a:gridCol w="952500"/>
                <a:gridCol w="952500"/>
                <a:gridCol w="952500"/>
                <a:gridCol w="952500"/>
                <a:gridCol w="952500"/>
              </a:tblGrid>
              <a:tr h="209550">
                <a:tc>
                  <a:txBody>
                    <a:bodyPr/>
                    <a:lstStyle/>
                    <a:p>
                      <a:pPr indent="0" lvl="0" marL="0" rtl="0" algn="ctr">
                        <a:lnSpc>
                          <a:spcPct val="115000"/>
                        </a:lnSpc>
                        <a:spcBef>
                          <a:spcPts val="0"/>
                        </a:spcBef>
                        <a:spcAft>
                          <a:spcPts val="0"/>
                        </a:spcAft>
                        <a:buNone/>
                      </a:pPr>
                      <a:r>
                        <a:rPr b="1" lang="it" sz="1100">
                          <a:solidFill>
                            <a:srgbClr val="FFFFFF"/>
                          </a:solidFill>
                        </a:rPr>
                        <a:t>Nr.</a:t>
                      </a:r>
                      <a:endParaRPr b="1" sz="1100">
                        <a:solidFill>
                          <a:srgbClr val="FFFFFF"/>
                        </a:solidFill>
                      </a:endParaRPr>
                    </a:p>
                  </a:txBody>
                  <a:tcPr marT="19050" marB="19050" marR="76200" marL="76200" anchor="ctr">
                    <a:lnL cap="flat" cmpd="sng" w="7625">
                      <a:solidFill>
                        <a:srgbClr val="284E3F"/>
                      </a:solidFill>
                      <a:prstDash val="solid"/>
                      <a:round/>
                      <a:headEnd len="sm" w="sm" type="none"/>
                      <a:tailEnd len="sm" w="sm" type="none"/>
                    </a:lnL>
                    <a:lnR cap="flat" cmpd="sng" w="7625">
                      <a:solidFill>
                        <a:srgbClr val="356854"/>
                      </a:solidFill>
                      <a:prstDash val="solid"/>
                      <a:round/>
                      <a:headEnd len="sm" w="sm" type="none"/>
                      <a:tailEnd len="sm" w="sm" type="none"/>
                    </a:lnR>
                    <a:lnT cap="flat" cmpd="sng" w="7625">
                      <a:solidFill>
                        <a:srgbClr val="284E3F"/>
                      </a:solidFill>
                      <a:prstDash val="solid"/>
                      <a:round/>
                      <a:headEnd len="sm" w="sm" type="none"/>
                      <a:tailEnd len="sm" w="sm" type="none"/>
                    </a:lnT>
                    <a:lnB cap="flat" cmpd="sng" w="7625">
                      <a:solidFill>
                        <a:srgbClr val="000000"/>
                      </a:solidFill>
                      <a:prstDash val="solid"/>
                      <a:round/>
                      <a:headEnd len="sm" w="sm" type="none"/>
                      <a:tailEnd len="sm" w="sm" type="none"/>
                    </a:lnB>
                    <a:solidFill>
                      <a:srgbClr val="356854"/>
                    </a:solidFill>
                  </a:tcPr>
                </a:tc>
                <a:tc>
                  <a:txBody>
                    <a:bodyPr/>
                    <a:lstStyle/>
                    <a:p>
                      <a:pPr indent="0" lvl="0" marL="0" rtl="0" algn="ctr">
                        <a:lnSpc>
                          <a:spcPct val="115000"/>
                        </a:lnSpc>
                        <a:spcBef>
                          <a:spcPts val="0"/>
                        </a:spcBef>
                        <a:spcAft>
                          <a:spcPts val="0"/>
                        </a:spcAft>
                        <a:buNone/>
                      </a:pPr>
                      <a:r>
                        <a:rPr b="1" lang="it" sz="1100">
                          <a:solidFill>
                            <a:srgbClr val="FFFFFF"/>
                          </a:solidFill>
                        </a:rPr>
                        <a:t>Mx(V)</a:t>
                      </a:r>
                      <a:endParaRPr b="1" sz="1100">
                        <a:solidFill>
                          <a:srgbClr val="FFFFFF"/>
                        </a:solidFill>
                      </a:endParaRPr>
                    </a:p>
                  </a:txBody>
                  <a:tcPr marT="19050" marB="19050" marR="76200" marL="76200" anchor="ctr">
                    <a:lnL cap="flat" cmpd="sng" w="7625">
                      <a:solidFill>
                        <a:srgbClr val="356854"/>
                      </a:solidFill>
                      <a:prstDash val="solid"/>
                      <a:round/>
                      <a:headEnd len="sm" w="sm" type="none"/>
                      <a:tailEnd len="sm" w="sm" type="none"/>
                    </a:lnL>
                    <a:lnR cap="flat" cmpd="sng" w="7625">
                      <a:solidFill>
                        <a:srgbClr val="356854"/>
                      </a:solidFill>
                      <a:prstDash val="solid"/>
                      <a:round/>
                      <a:headEnd len="sm" w="sm" type="none"/>
                      <a:tailEnd len="sm" w="sm" type="none"/>
                    </a:lnR>
                    <a:lnT cap="flat" cmpd="sng" w="7625">
                      <a:solidFill>
                        <a:srgbClr val="284E3F"/>
                      </a:solidFill>
                      <a:prstDash val="solid"/>
                      <a:round/>
                      <a:headEnd len="sm" w="sm" type="none"/>
                      <a:tailEnd len="sm" w="sm" type="none"/>
                    </a:lnT>
                    <a:lnB cap="flat" cmpd="sng" w="7625">
                      <a:solidFill>
                        <a:srgbClr val="000000"/>
                      </a:solidFill>
                      <a:prstDash val="solid"/>
                      <a:round/>
                      <a:headEnd len="sm" w="sm" type="none"/>
                      <a:tailEnd len="sm" w="sm" type="none"/>
                    </a:lnB>
                    <a:solidFill>
                      <a:srgbClr val="356854"/>
                    </a:solidFill>
                  </a:tcPr>
                </a:tc>
                <a:tc>
                  <a:txBody>
                    <a:bodyPr/>
                    <a:lstStyle/>
                    <a:p>
                      <a:pPr indent="0" lvl="0" marL="0" rtl="0" algn="ctr">
                        <a:lnSpc>
                          <a:spcPct val="115000"/>
                        </a:lnSpc>
                        <a:spcBef>
                          <a:spcPts val="0"/>
                        </a:spcBef>
                        <a:spcAft>
                          <a:spcPts val="0"/>
                        </a:spcAft>
                        <a:buNone/>
                      </a:pPr>
                      <a:r>
                        <a:rPr b="1" lang="it" sz="1100">
                          <a:solidFill>
                            <a:srgbClr val="FFFFFF"/>
                          </a:solidFill>
                        </a:rPr>
                        <a:t>Mo(V)</a:t>
                      </a:r>
                      <a:endParaRPr b="1" sz="1100">
                        <a:solidFill>
                          <a:srgbClr val="FFFFFF"/>
                        </a:solidFill>
                      </a:endParaRPr>
                    </a:p>
                  </a:txBody>
                  <a:tcPr marT="19050" marB="19050" marR="76200" marL="76200" anchor="ctr">
                    <a:lnL cap="flat" cmpd="sng" w="7625">
                      <a:solidFill>
                        <a:srgbClr val="356854"/>
                      </a:solidFill>
                      <a:prstDash val="solid"/>
                      <a:round/>
                      <a:headEnd len="sm" w="sm" type="none"/>
                      <a:tailEnd len="sm" w="sm" type="none"/>
                    </a:lnL>
                    <a:lnR cap="flat" cmpd="sng" w="7625">
                      <a:solidFill>
                        <a:srgbClr val="356854"/>
                      </a:solidFill>
                      <a:prstDash val="solid"/>
                      <a:round/>
                      <a:headEnd len="sm" w="sm" type="none"/>
                      <a:tailEnd len="sm" w="sm" type="none"/>
                    </a:lnR>
                    <a:lnT cap="flat" cmpd="sng" w="7625">
                      <a:solidFill>
                        <a:srgbClr val="284E3F"/>
                      </a:solidFill>
                      <a:prstDash val="solid"/>
                      <a:round/>
                      <a:headEnd len="sm" w="sm" type="none"/>
                      <a:tailEnd len="sm" w="sm" type="none"/>
                    </a:lnT>
                    <a:lnB cap="flat" cmpd="sng" w="7625">
                      <a:solidFill>
                        <a:srgbClr val="000000"/>
                      </a:solidFill>
                      <a:prstDash val="solid"/>
                      <a:round/>
                      <a:headEnd len="sm" w="sm" type="none"/>
                      <a:tailEnd len="sm" w="sm" type="none"/>
                    </a:lnB>
                    <a:solidFill>
                      <a:srgbClr val="356854"/>
                    </a:solidFill>
                  </a:tcPr>
                </a:tc>
                <a:tc>
                  <a:txBody>
                    <a:bodyPr/>
                    <a:lstStyle/>
                    <a:p>
                      <a:pPr indent="0" lvl="0" marL="0" rtl="0" algn="ctr">
                        <a:lnSpc>
                          <a:spcPct val="115000"/>
                        </a:lnSpc>
                        <a:spcBef>
                          <a:spcPts val="0"/>
                        </a:spcBef>
                        <a:spcAft>
                          <a:spcPts val="0"/>
                        </a:spcAft>
                        <a:buNone/>
                      </a:pPr>
                      <a:r>
                        <a:rPr b="1" lang="it" sz="1100">
                          <a:solidFill>
                            <a:srgbClr val="FFFFFF"/>
                          </a:solidFill>
                        </a:rPr>
                        <a:t>Mx(A)</a:t>
                      </a:r>
                      <a:endParaRPr b="1" sz="1100">
                        <a:solidFill>
                          <a:srgbClr val="FFFFFF"/>
                        </a:solidFill>
                      </a:endParaRPr>
                    </a:p>
                  </a:txBody>
                  <a:tcPr marT="19050" marB="19050" marR="76200" marL="76200" anchor="ctr">
                    <a:lnL cap="flat" cmpd="sng" w="7625">
                      <a:solidFill>
                        <a:srgbClr val="356854"/>
                      </a:solidFill>
                      <a:prstDash val="solid"/>
                      <a:round/>
                      <a:headEnd len="sm" w="sm" type="none"/>
                      <a:tailEnd len="sm" w="sm" type="none"/>
                    </a:lnL>
                    <a:lnR cap="flat" cmpd="sng" w="7625">
                      <a:solidFill>
                        <a:srgbClr val="356854"/>
                      </a:solidFill>
                      <a:prstDash val="solid"/>
                      <a:round/>
                      <a:headEnd len="sm" w="sm" type="none"/>
                      <a:tailEnd len="sm" w="sm" type="none"/>
                    </a:lnR>
                    <a:lnT cap="flat" cmpd="sng" w="7625">
                      <a:solidFill>
                        <a:srgbClr val="284E3F"/>
                      </a:solidFill>
                      <a:prstDash val="solid"/>
                      <a:round/>
                      <a:headEnd len="sm" w="sm" type="none"/>
                      <a:tailEnd len="sm" w="sm" type="none"/>
                    </a:lnT>
                    <a:lnB cap="flat" cmpd="sng" w="7625">
                      <a:solidFill>
                        <a:srgbClr val="000000"/>
                      </a:solidFill>
                      <a:prstDash val="solid"/>
                      <a:round/>
                      <a:headEnd len="sm" w="sm" type="none"/>
                      <a:tailEnd len="sm" w="sm" type="none"/>
                    </a:lnB>
                    <a:solidFill>
                      <a:srgbClr val="356854"/>
                    </a:solidFill>
                  </a:tcPr>
                </a:tc>
                <a:tc>
                  <a:txBody>
                    <a:bodyPr/>
                    <a:lstStyle/>
                    <a:p>
                      <a:pPr indent="0" lvl="0" marL="0" rtl="0" algn="ctr">
                        <a:lnSpc>
                          <a:spcPct val="115000"/>
                        </a:lnSpc>
                        <a:spcBef>
                          <a:spcPts val="0"/>
                        </a:spcBef>
                        <a:spcAft>
                          <a:spcPts val="0"/>
                        </a:spcAft>
                        <a:buNone/>
                      </a:pPr>
                      <a:r>
                        <a:rPr b="1" lang="it" sz="1100">
                          <a:solidFill>
                            <a:srgbClr val="FFFFFF"/>
                          </a:solidFill>
                        </a:rPr>
                        <a:t>Mo(A)</a:t>
                      </a:r>
                      <a:endParaRPr b="1" sz="1100">
                        <a:solidFill>
                          <a:srgbClr val="FFFFFF"/>
                        </a:solidFill>
                      </a:endParaRPr>
                    </a:p>
                  </a:txBody>
                  <a:tcPr marT="19050" marB="19050" marR="76200" marL="76200" anchor="ctr">
                    <a:lnL cap="flat" cmpd="sng" w="7625">
                      <a:solidFill>
                        <a:srgbClr val="356854"/>
                      </a:solidFill>
                      <a:prstDash val="solid"/>
                      <a:round/>
                      <a:headEnd len="sm" w="sm" type="none"/>
                      <a:tailEnd len="sm" w="sm" type="none"/>
                    </a:lnL>
                    <a:lnR cap="flat" cmpd="sng" w="7625">
                      <a:solidFill>
                        <a:srgbClr val="356854"/>
                      </a:solidFill>
                      <a:prstDash val="solid"/>
                      <a:round/>
                      <a:headEnd len="sm" w="sm" type="none"/>
                      <a:tailEnd len="sm" w="sm" type="none"/>
                    </a:lnR>
                    <a:lnT cap="flat" cmpd="sng" w="7625">
                      <a:solidFill>
                        <a:srgbClr val="284E3F"/>
                      </a:solidFill>
                      <a:prstDash val="solid"/>
                      <a:round/>
                      <a:headEnd len="sm" w="sm" type="none"/>
                      <a:tailEnd len="sm" w="sm" type="none"/>
                    </a:lnT>
                    <a:lnB cap="flat" cmpd="sng" w="7625">
                      <a:solidFill>
                        <a:srgbClr val="000000"/>
                      </a:solidFill>
                      <a:prstDash val="solid"/>
                      <a:round/>
                      <a:headEnd len="sm" w="sm" type="none"/>
                      <a:tailEnd len="sm" w="sm" type="none"/>
                    </a:lnB>
                    <a:solidFill>
                      <a:srgbClr val="356854"/>
                    </a:solidFill>
                  </a:tcPr>
                </a:tc>
                <a:tc>
                  <a:txBody>
                    <a:bodyPr/>
                    <a:lstStyle/>
                    <a:p>
                      <a:pPr indent="0" lvl="0" marL="0" rtl="0" algn="ctr">
                        <a:lnSpc>
                          <a:spcPct val="115000"/>
                        </a:lnSpc>
                        <a:spcBef>
                          <a:spcPts val="0"/>
                        </a:spcBef>
                        <a:spcAft>
                          <a:spcPts val="0"/>
                        </a:spcAft>
                        <a:buNone/>
                      </a:pPr>
                      <a:r>
                        <a:rPr b="1" lang="it" sz="1100">
                          <a:solidFill>
                            <a:srgbClr val="FFFFFF"/>
                          </a:solidFill>
                        </a:rPr>
                        <a:t>Mx(P)</a:t>
                      </a:r>
                      <a:endParaRPr b="1" sz="1100">
                        <a:solidFill>
                          <a:srgbClr val="FFFFFF"/>
                        </a:solidFill>
                      </a:endParaRPr>
                    </a:p>
                  </a:txBody>
                  <a:tcPr marT="19050" marB="19050" marR="76200" marL="76200" anchor="ctr">
                    <a:lnL cap="flat" cmpd="sng" w="7625">
                      <a:solidFill>
                        <a:srgbClr val="356854"/>
                      </a:solidFill>
                      <a:prstDash val="solid"/>
                      <a:round/>
                      <a:headEnd len="sm" w="sm" type="none"/>
                      <a:tailEnd len="sm" w="sm" type="none"/>
                    </a:lnL>
                    <a:lnR cap="flat" cmpd="sng" w="7625">
                      <a:solidFill>
                        <a:srgbClr val="356854"/>
                      </a:solidFill>
                      <a:prstDash val="solid"/>
                      <a:round/>
                      <a:headEnd len="sm" w="sm" type="none"/>
                      <a:tailEnd len="sm" w="sm" type="none"/>
                    </a:lnR>
                    <a:lnT cap="flat" cmpd="sng" w="7625">
                      <a:solidFill>
                        <a:srgbClr val="284E3F"/>
                      </a:solidFill>
                      <a:prstDash val="solid"/>
                      <a:round/>
                      <a:headEnd len="sm" w="sm" type="none"/>
                      <a:tailEnd len="sm" w="sm" type="none"/>
                    </a:lnT>
                    <a:lnB cap="flat" cmpd="sng" w="7625">
                      <a:solidFill>
                        <a:srgbClr val="000000"/>
                      </a:solidFill>
                      <a:prstDash val="solid"/>
                      <a:round/>
                      <a:headEnd len="sm" w="sm" type="none"/>
                      <a:tailEnd len="sm" w="sm" type="none"/>
                    </a:lnB>
                    <a:solidFill>
                      <a:srgbClr val="356854"/>
                    </a:solidFill>
                  </a:tcPr>
                </a:tc>
                <a:tc>
                  <a:txBody>
                    <a:bodyPr/>
                    <a:lstStyle/>
                    <a:p>
                      <a:pPr indent="0" lvl="0" marL="0" rtl="0" algn="ctr">
                        <a:lnSpc>
                          <a:spcPct val="115000"/>
                        </a:lnSpc>
                        <a:spcBef>
                          <a:spcPts val="0"/>
                        </a:spcBef>
                        <a:spcAft>
                          <a:spcPts val="0"/>
                        </a:spcAft>
                        <a:buNone/>
                      </a:pPr>
                      <a:r>
                        <a:rPr b="1" lang="it" sz="1100">
                          <a:solidFill>
                            <a:srgbClr val="FFFFFF"/>
                          </a:solidFill>
                        </a:rPr>
                        <a:t>Mo(P)</a:t>
                      </a:r>
                      <a:endParaRPr b="1" sz="1100">
                        <a:solidFill>
                          <a:srgbClr val="FFFFFF"/>
                        </a:solidFill>
                      </a:endParaRPr>
                    </a:p>
                  </a:txBody>
                  <a:tcPr marT="19050" marB="19050" marR="76200" marL="76200" anchor="ctr">
                    <a:lnL cap="flat" cmpd="sng" w="7625">
                      <a:solidFill>
                        <a:srgbClr val="356854"/>
                      </a:solidFill>
                      <a:prstDash val="solid"/>
                      <a:round/>
                      <a:headEnd len="sm" w="sm" type="none"/>
                      <a:tailEnd len="sm" w="sm" type="none"/>
                    </a:lnL>
                    <a:lnR cap="flat" cmpd="sng" w="7625">
                      <a:solidFill>
                        <a:srgbClr val="284E3F"/>
                      </a:solidFill>
                      <a:prstDash val="solid"/>
                      <a:round/>
                      <a:headEnd len="sm" w="sm" type="none"/>
                      <a:tailEnd len="sm" w="sm" type="none"/>
                    </a:lnR>
                    <a:lnT cap="flat" cmpd="sng" w="7625">
                      <a:solidFill>
                        <a:srgbClr val="284E3F"/>
                      </a:solidFill>
                      <a:prstDash val="solid"/>
                      <a:round/>
                      <a:headEnd len="sm" w="sm" type="none"/>
                      <a:tailEnd len="sm" w="sm" type="none"/>
                    </a:lnT>
                    <a:lnB cap="flat" cmpd="sng" w="7625">
                      <a:solidFill>
                        <a:srgbClr val="000000"/>
                      </a:solidFill>
                      <a:prstDash val="solid"/>
                      <a:round/>
                      <a:headEnd len="sm" w="sm" type="none"/>
                      <a:tailEnd len="sm" w="sm" type="none"/>
                    </a:lnB>
                    <a:solidFill>
                      <a:srgbClr val="356854"/>
                    </a:solidFill>
                  </a:tcPr>
                </a:tc>
              </a:tr>
              <a:tr h="209550">
                <a:tc>
                  <a:txBody>
                    <a:bodyPr/>
                    <a:lstStyle/>
                    <a:p>
                      <a:pPr indent="0" lvl="0" marL="0" rtl="0" algn="ctr">
                        <a:lnSpc>
                          <a:spcPct val="115000"/>
                        </a:lnSpc>
                        <a:spcBef>
                          <a:spcPts val="0"/>
                        </a:spcBef>
                        <a:spcAft>
                          <a:spcPts val="0"/>
                        </a:spcAft>
                        <a:buNone/>
                      </a:pPr>
                      <a:r>
                        <a:rPr lang="it"/>
                        <a:t>1</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it"/>
                        <a:t>224.99V</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it"/>
                        <a:t>224.33V</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it"/>
                        <a:t>0.51A</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it"/>
                        <a:t>0.522A</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it"/>
                        <a:t>107.14W</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it"/>
                        <a:t>105.32W</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284E3F"/>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r>
              <a:tr h="209550">
                <a:tc>
                  <a:txBody>
                    <a:bodyPr/>
                    <a:lstStyle/>
                    <a:p>
                      <a:pPr indent="0" lvl="0" marL="0" rtl="0" algn="ctr">
                        <a:lnSpc>
                          <a:spcPct val="115000"/>
                        </a:lnSpc>
                        <a:spcBef>
                          <a:spcPts val="0"/>
                        </a:spcBef>
                        <a:spcAft>
                          <a:spcPts val="0"/>
                        </a:spcAft>
                        <a:buNone/>
                      </a:pPr>
                      <a:r>
                        <a:rPr lang="it"/>
                        <a:t>2</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it"/>
                        <a:t>225.7V</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it"/>
                        <a:t>225.6V</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it"/>
                        <a:t>0.51A</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it"/>
                        <a:t>0.514A</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it"/>
                        <a:t>106.13W</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it"/>
                        <a:t>104.37W</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284E3F"/>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6F8F9"/>
                    </a:solidFill>
                  </a:tcPr>
                </a:tc>
              </a:tr>
              <a:tr h="209550">
                <a:tc>
                  <a:txBody>
                    <a:bodyPr/>
                    <a:lstStyle/>
                    <a:p>
                      <a:pPr indent="0" lvl="0" marL="0" rtl="0" algn="ctr">
                        <a:lnSpc>
                          <a:spcPct val="115000"/>
                        </a:lnSpc>
                        <a:spcBef>
                          <a:spcPts val="0"/>
                        </a:spcBef>
                        <a:spcAft>
                          <a:spcPts val="0"/>
                        </a:spcAft>
                        <a:buNone/>
                      </a:pPr>
                      <a:r>
                        <a:rPr lang="it"/>
                        <a:t>3</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it"/>
                        <a:t>225.72V</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it"/>
                        <a:t>226.37V</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it"/>
                        <a:t>0.52A</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it"/>
                        <a:t>0.521A</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it"/>
                        <a:t>106.55W</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it"/>
                        <a:t>106.04W</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284E3F"/>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r>
              <a:tr h="209550">
                <a:tc>
                  <a:txBody>
                    <a:bodyPr/>
                    <a:lstStyle/>
                    <a:p>
                      <a:pPr indent="0" lvl="0" marL="0" rtl="0" algn="ctr">
                        <a:lnSpc>
                          <a:spcPct val="115000"/>
                        </a:lnSpc>
                        <a:spcBef>
                          <a:spcPts val="0"/>
                        </a:spcBef>
                        <a:spcAft>
                          <a:spcPts val="0"/>
                        </a:spcAft>
                        <a:buNone/>
                      </a:pPr>
                      <a:r>
                        <a:rPr lang="it"/>
                        <a:t>4</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it"/>
                        <a:t>226.43V</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it"/>
                        <a:t>226.35V</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it"/>
                        <a:t>0.52A</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it"/>
                        <a:t>0.521A</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it"/>
                        <a:t>107.67W</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it"/>
                        <a:t>106.17W</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284E3F"/>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6F8F9"/>
                    </a:solidFill>
                  </a:tcPr>
                </a:tc>
              </a:tr>
              <a:tr h="209550">
                <a:tc>
                  <a:txBody>
                    <a:bodyPr/>
                    <a:lstStyle/>
                    <a:p>
                      <a:pPr indent="0" lvl="0" marL="0" rtl="0" algn="ctr">
                        <a:lnSpc>
                          <a:spcPct val="115000"/>
                        </a:lnSpc>
                        <a:spcBef>
                          <a:spcPts val="0"/>
                        </a:spcBef>
                        <a:spcAft>
                          <a:spcPts val="0"/>
                        </a:spcAft>
                        <a:buNone/>
                      </a:pPr>
                      <a:r>
                        <a:rPr lang="it"/>
                        <a:t>5</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it"/>
                        <a:t>226.84V</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it"/>
                        <a:t>227.05V</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it"/>
                        <a:t>0.51A</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it"/>
                        <a:t>0.527A</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it"/>
                        <a:t>107.19W</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it"/>
                        <a:t>107.61W</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284E3F"/>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r>
              <a:tr h="209550">
                <a:tc>
                  <a:txBody>
                    <a:bodyPr/>
                    <a:lstStyle/>
                    <a:p>
                      <a:pPr indent="0" lvl="0" marL="0" rtl="0" algn="ctr">
                        <a:lnSpc>
                          <a:spcPct val="115000"/>
                        </a:lnSpc>
                        <a:spcBef>
                          <a:spcPts val="0"/>
                        </a:spcBef>
                        <a:spcAft>
                          <a:spcPts val="0"/>
                        </a:spcAft>
                        <a:buNone/>
                      </a:pPr>
                      <a:r>
                        <a:rPr lang="it"/>
                        <a:t>6</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it"/>
                        <a:t>227.35V</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it"/>
                        <a:t>227.05V</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it"/>
                        <a:t>0.52A</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it"/>
                        <a:t>0.527A</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it"/>
                        <a:t>108.57W</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it"/>
                        <a:t>107.61W</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284E3F"/>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6F8F9"/>
                    </a:solidFill>
                  </a:tcPr>
                </a:tc>
              </a:tr>
              <a:tr h="209550">
                <a:tc>
                  <a:txBody>
                    <a:bodyPr/>
                    <a:lstStyle/>
                    <a:p>
                      <a:pPr indent="0" lvl="0" marL="0" rtl="0" algn="ctr">
                        <a:lnSpc>
                          <a:spcPct val="115000"/>
                        </a:lnSpc>
                        <a:spcBef>
                          <a:spcPts val="0"/>
                        </a:spcBef>
                        <a:spcAft>
                          <a:spcPts val="0"/>
                        </a:spcAft>
                        <a:buNone/>
                      </a:pPr>
                      <a:r>
                        <a:rPr lang="it"/>
                        <a:t>7</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it"/>
                        <a:t>230.53V</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it"/>
                        <a:t>230.47V</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it"/>
                        <a:t>0.53A</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it"/>
                        <a:t>0.52A</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it"/>
                        <a:t>109.12W</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it"/>
                        <a:t>107.76W</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284E3F"/>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r>
              <a:tr h="209550">
                <a:tc>
                  <a:txBody>
                    <a:bodyPr/>
                    <a:lstStyle/>
                    <a:p>
                      <a:pPr indent="0" lvl="0" marL="0" rtl="0" algn="ctr">
                        <a:lnSpc>
                          <a:spcPct val="115000"/>
                        </a:lnSpc>
                        <a:spcBef>
                          <a:spcPts val="0"/>
                        </a:spcBef>
                        <a:spcAft>
                          <a:spcPts val="0"/>
                        </a:spcAft>
                        <a:buNone/>
                      </a:pPr>
                      <a:r>
                        <a:rPr lang="it"/>
                        <a:t>8</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it"/>
                        <a:t>230.9V</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it"/>
                        <a:t>230.81V</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it"/>
                        <a:t>0.50A</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it"/>
                        <a:t>0.508A</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it"/>
                        <a:t>106.30W</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it"/>
                        <a:t>105.57W</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284E3F"/>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6F8F9"/>
                    </a:solidFill>
                  </a:tcPr>
                </a:tc>
              </a:tr>
              <a:tr h="209550">
                <a:tc>
                  <a:txBody>
                    <a:bodyPr/>
                    <a:lstStyle/>
                    <a:p>
                      <a:pPr indent="0" lvl="0" marL="0" rtl="0" algn="ctr">
                        <a:lnSpc>
                          <a:spcPct val="115000"/>
                        </a:lnSpc>
                        <a:spcBef>
                          <a:spcPts val="0"/>
                        </a:spcBef>
                        <a:spcAft>
                          <a:spcPts val="0"/>
                        </a:spcAft>
                        <a:buNone/>
                      </a:pPr>
                      <a:r>
                        <a:rPr lang="it"/>
                        <a:t>9</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it"/>
                        <a:t>231.03V</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it"/>
                        <a:t>232.05V</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it"/>
                        <a:t>0.51A</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it"/>
                        <a:t>0.515A</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it"/>
                        <a:t>108.49W</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it"/>
                        <a:t>107.63W</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284E3F"/>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r>
              <a:tr h="209550">
                <a:tc>
                  <a:txBody>
                    <a:bodyPr/>
                    <a:lstStyle/>
                    <a:p>
                      <a:pPr indent="0" lvl="0" marL="0" rtl="0" algn="ctr">
                        <a:lnSpc>
                          <a:spcPct val="115000"/>
                        </a:lnSpc>
                        <a:spcBef>
                          <a:spcPts val="0"/>
                        </a:spcBef>
                        <a:spcAft>
                          <a:spcPts val="0"/>
                        </a:spcAft>
                        <a:buNone/>
                      </a:pPr>
                      <a:r>
                        <a:rPr lang="it"/>
                        <a:t>10</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it"/>
                        <a:t>232.39V</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it"/>
                        <a:t>232.4V</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it"/>
                        <a:t>0.51A</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it"/>
                        <a:t>0.505A</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it"/>
                        <a:t>106.52W</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it"/>
                        <a:t>105.6W</a:t>
                      </a:r>
                      <a:endParaRPr/>
                    </a:p>
                  </a:txBody>
                  <a:tcPr marT="19050" marB="19050" marR="76200" marL="76200" anchor="ctr">
                    <a:lnL cap="flat" cmpd="sng" w="7625">
                      <a:solidFill>
                        <a:srgbClr val="000000"/>
                      </a:solidFill>
                      <a:prstDash val="solid"/>
                      <a:round/>
                      <a:headEnd len="sm" w="sm" type="none"/>
                      <a:tailEnd len="sm" w="sm" type="none"/>
                    </a:lnL>
                    <a:lnR cap="flat" cmpd="sng" w="7625">
                      <a:solidFill>
                        <a:srgbClr val="284E3F"/>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6F8F9"/>
                    </a:solidFill>
                  </a:tcPr>
                </a:tc>
              </a:tr>
            </a:tbl>
          </a:graphicData>
        </a:graphic>
      </p:graphicFrame>
    </p:spTree>
  </p:cSld>
  <p:clrMapOvr>
    <a:masterClrMapping/>
  </p:clrMapOvr>
  <mc:AlternateContent>
    <mc:Choice Requires="p14">
      <p:transition spd="slow" p14:dur="1000">
        <p:fade thruBlk="1"/>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2"/>
          <p:cNvSpPr/>
          <p:nvPr/>
        </p:nvSpPr>
        <p:spPr>
          <a:xfrm>
            <a:off x="0" y="0"/>
            <a:ext cx="9144000" cy="307800"/>
          </a:xfrm>
          <a:prstGeom prst="roundRect">
            <a:avLst>
              <a:gd fmla="val 0" name="adj"/>
            </a:avLst>
          </a:prstGeom>
          <a:solidFill>
            <a:srgbClr val="003A65"/>
          </a:solid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b="1" lang="it" sz="1800">
                <a:solidFill>
                  <a:schemeClr val="lt1"/>
                </a:solidFill>
                <a:latin typeface="Rajdhani"/>
                <a:ea typeface="Rajdhani"/>
                <a:cs typeface="Rajdhani"/>
                <a:sym typeface="Rajdhani"/>
              </a:rPr>
              <a:t>HFI 2024-2025 										</a:t>
            </a:r>
            <a:r>
              <a:rPr lang="it" sz="1800">
                <a:solidFill>
                  <a:schemeClr val="lt1"/>
                </a:solidFill>
                <a:latin typeface="Rajdhani"/>
                <a:ea typeface="Rajdhani"/>
                <a:cs typeface="Rajdhani"/>
                <a:sym typeface="Rajdhani"/>
              </a:rPr>
              <a:t>DEPARTAMENTI ELEKTRONIKË</a:t>
            </a:r>
            <a:endParaRPr sz="1800">
              <a:solidFill>
                <a:schemeClr val="lt1"/>
              </a:solidFill>
              <a:latin typeface="Rajdhani"/>
              <a:ea typeface="Rajdhani"/>
              <a:cs typeface="Rajdhani"/>
              <a:sym typeface="Rajdhani"/>
            </a:endParaRPr>
          </a:p>
        </p:txBody>
      </p:sp>
      <p:sp>
        <p:nvSpPr>
          <p:cNvPr id="136" name="Google Shape;136;p22"/>
          <p:cNvSpPr txBox="1"/>
          <p:nvPr>
            <p:ph type="title"/>
          </p:nvPr>
        </p:nvSpPr>
        <p:spPr>
          <a:xfrm>
            <a:off x="311575"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u="sng">
                <a:solidFill>
                  <a:srgbClr val="1155CC"/>
                </a:solidFill>
                <a:hlinkClick r:id="rId3">
                  <a:extLst>
                    <a:ext uri="{A12FA001-AC4F-418D-AE19-62706E023703}">
                      <ahyp:hlinkClr val="tx"/>
                    </a:ext>
                  </a:extLst>
                </a:hlinkClick>
              </a:rPr>
              <a:t>Analiza Financiare</a:t>
            </a:r>
            <a:endParaRPr b="1" u="sng">
              <a:solidFill>
                <a:srgbClr val="1155CC"/>
              </a:solidFill>
            </a:endParaRPr>
          </a:p>
        </p:txBody>
      </p:sp>
      <p:sp>
        <p:nvSpPr>
          <p:cNvPr id="137" name="Google Shape;137;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it"/>
              <a:t>‹#›</a:t>
            </a:fld>
            <a:endParaRPr/>
          </a:p>
        </p:txBody>
      </p:sp>
      <p:sp>
        <p:nvSpPr>
          <p:cNvPr id="138" name="Google Shape;138;p22"/>
          <p:cNvSpPr txBox="1"/>
          <p:nvPr/>
        </p:nvSpPr>
        <p:spPr>
          <a:xfrm>
            <a:off x="0" y="4835700"/>
            <a:ext cx="1121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800">
                <a:solidFill>
                  <a:schemeClr val="dk1"/>
                </a:solidFill>
                <a:latin typeface="Dosis"/>
                <a:ea typeface="Dosis"/>
                <a:cs typeface="Dosis"/>
                <a:sym typeface="Dosis"/>
              </a:rPr>
              <a:t>Rish. MPVx-A-2024-1</a:t>
            </a:r>
            <a:endParaRPr sz="800">
              <a:solidFill>
                <a:schemeClr val="dk1"/>
              </a:solidFill>
              <a:latin typeface="Dosis"/>
              <a:ea typeface="Dosis"/>
              <a:cs typeface="Dosis"/>
              <a:sym typeface="Dosis"/>
            </a:endParaRPr>
          </a:p>
        </p:txBody>
      </p:sp>
      <p:graphicFrame>
        <p:nvGraphicFramePr>
          <p:cNvPr id="139" name="Google Shape;139;p22"/>
          <p:cNvGraphicFramePr/>
          <p:nvPr/>
        </p:nvGraphicFramePr>
        <p:xfrm>
          <a:off x="1560800" y="1069600"/>
          <a:ext cx="3000000" cy="3000000"/>
        </p:xfrm>
        <a:graphic>
          <a:graphicData uri="http://schemas.openxmlformats.org/drawingml/2006/table">
            <a:tbl>
              <a:tblPr>
                <a:noFill/>
                <a:tableStyleId>{0A4126AA-40AA-495C-8D76-F601D0DB7661}</a:tableStyleId>
              </a:tblPr>
              <a:tblGrid>
                <a:gridCol w="394175"/>
                <a:gridCol w="1948625"/>
                <a:gridCol w="676900"/>
                <a:gridCol w="1720575"/>
                <a:gridCol w="1110775"/>
              </a:tblGrid>
              <a:tr h="381000">
                <a:tc>
                  <a:txBody>
                    <a:bodyPr/>
                    <a:lstStyle/>
                    <a:p>
                      <a:pPr indent="0" lvl="0" marL="0" rtl="0" algn="ctr">
                        <a:lnSpc>
                          <a:spcPct val="115000"/>
                        </a:lnSpc>
                        <a:spcBef>
                          <a:spcPts val="0"/>
                        </a:spcBef>
                        <a:spcAft>
                          <a:spcPts val="0"/>
                        </a:spcAft>
                        <a:buNone/>
                      </a:pPr>
                      <a:r>
                        <a:rPr b="1" lang="it" sz="1200"/>
                        <a:t>Nr.</a:t>
                      </a:r>
                      <a:endParaRPr b="1" sz="1200"/>
                    </a:p>
                  </a:txBody>
                  <a:tcPr marT="91425" marB="91425" marR="91425" marL="91425"/>
                </a:tc>
                <a:tc>
                  <a:txBody>
                    <a:bodyPr/>
                    <a:lstStyle/>
                    <a:p>
                      <a:pPr indent="0" lvl="0" marL="0" rtl="0" algn="ctr">
                        <a:lnSpc>
                          <a:spcPct val="115000"/>
                        </a:lnSpc>
                        <a:spcBef>
                          <a:spcPts val="0"/>
                        </a:spcBef>
                        <a:spcAft>
                          <a:spcPts val="0"/>
                        </a:spcAft>
                        <a:buNone/>
                      </a:pPr>
                      <a:r>
                        <a:rPr b="1" lang="it" sz="1200"/>
                        <a:t>Elementi/Pajisja</a:t>
                      </a:r>
                      <a:endParaRPr b="1" sz="1200"/>
                    </a:p>
                  </a:txBody>
                  <a:tcPr marT="91425" marB="91425" marR="91425" marL="91425"/>
                </a:tc>
                <a:tc>
                  <a:txBody>
                    <a:bodyPr/>
                    <a:lstStyle/>
                    <a:p>
                      <a:pPr indent="0" lvl="0" marL="0" rtl="0" algn="ctr">
                        <a:lnSpc>
                          <a:spcPct val="115000"/>
                        </a:lnSpc>
                        <a:spcBef>
                          <a:spcPts val="0"/>
                        </a:spcBef>
                        <a:spcAft>
                          <a:spcPts val="0"/>
                        </a:spcAft>
                        <a:buNone/>
                      </a:pPr>
                      <a:r>
                        <a:rPr b="1" lang="it" sz="1200"/>
                        <a:t>Sasia</a:t>
                      </a:r>
                      <a:endParaRPr b="1" sz="1200"/>
                    </a:p>
                  </a:txBody>
                  <a:tcPr marT="91425" marB="91425" marR="91425" marL="91425"/>
                </a:tc>
                <a:tc>
                  <a:txBody>
                    <a:bodyPr/>
                    <a:lstStyle/>
                    <a:p>
                      <a:pPr indent="0" lvl="0" marL="0" rtl="0" algn="ctr">
                        <a:lnSpc>
                          <a:spcPct val="115000"/>
                        </a:lnSpc>
                        <a:spcBef>
                          <a:spcPts val="0"/>
                        </a:spcBef>
                        <a:spcAft>
                          <a:spcPts val="0"/>
                        </a:spcAft>
                        <a:buNone/>
                      </a:pPr>
                      <a:r>
                        <a:rPr b="1" lang="it" sz="1200"/>
                        <a:t>Çmimi për copë ($)</a:t>
                      </a:r>
                      <a:endParaRPr b="1" sz="1200"/>
                    </a:p>
                  </a:txBody>
                  <a:tcPr marT="91425" marB="91425" marR="91425" marL="91425"/>
                </a:tc>
                <a:tc>
                  <a:txBody>
                    <a:bodyPr/>
                    <a:lstStyle/>
                    <a:p>
                      <a:pPr indent="0" lvl="0" marL="0" rtl="0" algn="ctr">
                        <a:lnSpc>
                          <a:spcPct val="115000"/>
                        </a:lnSpc>
                        <a:spcBef>
                          <a:spcPts val="0"/>
                        </a:spcBef>
                        <a:spcAft>
                          <a:spcPts val="0"/>
                        </a:spcAft>
                        <a:buNone/>
                      </a:pPr>
                      <a:r>
                        <a:rPr b="1" lang="it" sz="1200"/>
                        <a:t>Totali ($)</a:t>
                      </a:r>
                      <a:endParaRPr b="1" sz="1200"/>
                    </a:p>
                  </a:txBody>
                  <a:tcPr marT="91425" marB="91425" marR="91425" marL="91425"/>
                </a:tc>
              </a:tr>
              <a:tr h="381000">
                <a:tc>
                  <a:txBody>
                    <a:bodyPr/>
                    <a:lstStyle/>
                    <a:p>
                      <a:pPr indent="0" lvl="0" marL="0" rtl="0" algn="ctr">
                        <a:spcBef>
                          <a:spcPts val="0"/>
                        </a:spcBef>
                        <a:spcAft>
                          <a:spcPts val="0"/>
                        </a:spcAft>
                        <a:buNone/>
                      </a:pPr>
                      <a:r>
                        <a:rPr lang="it" sz="1200"/>
                        <a:t>1</a:t>
                      </a:r>
                      <a:endParaRPr sz="1200"/>
                    </a:p>
                  </a:txBody>
                  <a:tcPr marT="91425" marB="91425" marR="91425" marL="91425"/>
                </a:tc>
                <a:tc>
                  <a:txBody>
                    <a:bodyPr/>
                    <a:lstStyle/>
                    <a:p>
                      <a:pPr indent="0" lvl="0" marL="0" rtl="0" algn="ctr">
                        <a:spcBef>
                          <a:spcPts val="0"/>
                        </a:spcBef>
                        <a:spcAft>
                          <a:spcPts val="0"/>
                        </a:spcAft>
                        <a:buNone/>
                      </a:pPr>
                      <a:r>
                        <a:rPr lang="it" sz="1200"/>
                        <a:t>Arduino UNO</a:t>
                      </a:r>
                      <a:endParaRPr sz="1200"/>
                    </a:p>
                  </a:txBody>
                  <a:tcPr marT="91425" marB="91425" marR="91425" marL="91425"/>
                </a:tc>
                <a:tc>
                  <a:txBody>
                    <a:bodyPr/>
                    <a:lstStyle/>
                    <a:p>
                      <a:pPr indent="0" lvl="0" marL="0" rtl="0" algn="ctr">
                        <a:spcBef>
                          <a:spcPts val="0"/>
                        </a:spcBef>
                        <a:spcAft>
                          <a:spcPts val="0"/>
                        </a:spcAft>
                        <a:buNone/>
                      </a:pPr>
                      <a:r>
                        <a:rPr lang="it" sz="1200"/>
                        <a:t>1</a:t>
                      </a:r>
                      <a:endParaRPr sz="1200"/>
                    </a:p>
                  </a:txBody>
                  <a:tcPr marT="91425" marB="91425" marR="91425" marL="91425"/>
                </a:tc>
                <a:tc>
                  <a:txBody>
                    <a:bodyPr/>
                    <a:lstStyle/>
                    <a:p>
                      <a:pPr indent="0" lvl="0" marL="0" rtl="0" algn="ctr">
                        <a:spcBef>
                          <a:spcPts val="0"/>
                        </a:spcBef>
                        <a:spcAft>
                          <a:spcPts val="0"/>
                        </a:spcAft>
                        <a:buNone/>
                      </a:pPr>
                      <a:r>
                        <a:rPr lang="it" sz="1200"/>
                        <a:t>10.00$</a:t>
                      </a:r>
                      <a:endParaRPr sz="1200"/>
                    </a:p>
                  </a:txBody>
                  <a:tcPr marT="91425" marB="91425" marR="91425" marL="91425"/>
                </a:tc>
                <a:tc>
                  <a:txBody>
                    <a:bodyPr/>
                    <a:lstStyle/>
                    <a:p>
                      <a:pPr indent="0" lvl="0" marL="0" rtl="0" algn="ctr">
                        <a:spcBef>
                          <a:spcPts val="0"/>
                        </a:spcBef>
                        <a:spcAft>
                          <a:spcPts val="0"/>
                        </a:spcAft>
                        <a:buNone/>
                      </a:pPr>
                      <a:r>
                        <a:rPr lang="it" sz="1200"/>
                        <a:t>10.00$</a:t>
                      </a:r>
                      <a:endParaRPr sz="1200"/>
                    </a:p>
                  </a:txBody>
                  <a:tcPr marT="91425" marB="91425" marR="91425" marL="91425"/>
                </a:tc>
              </a:tr>
              <a:tr h="381000">
                <a:tc>
                  <a:txBody>
                    <a:bodyPr/>
                    <a:lstStyle/>
                    <a:p>
                      <a:pPr indent="0" lvl="0" marL="0" rtl="0" algn="ctr">
                        <a:spcBef>
                          <a:spcPts val="0"/>
                        </a:spcBef>
                        <a:spcAft>
                          <a:spcPts val="0"/>
                        </a:spcAft>
                        <a:buNone/>
                      </a:pPr>
                      <a:r>
                        <a:rPr lang="it" sz="1200"/>
                        <a:t>2</a:t>
                      </a:r>
                      <a:endParaRPr sz="1200"/>
                    </a:p>
                  </a:txBody>
                  <a:tcPr marT="91425" marB="91425" marR="91425" marL="91425"/>
                </a:tc>
                <a:tc>
                  <a:txBody>
                    <a:bodyPr/>
                    <a:lstStyle/>
                    <a:p>
                      <a:pPr indent="0" lvl="0" marL="0" rtl="0" algn="ctr">
                        <a:spcBef>
                          <a:spcPts val="0"/>
                        </a:spcBef>
                        <a:spcAft>
                          <a:spcPts val="0"/>
                        </a:spcAft>
                        <a:buNone/>
                      </a:pPr>
                      <a:r>
                        <a:rPr lang="it" sz="1200"/>
                        <a:t>Transformator 220V–12V</a:t>
                      </a:r>
                      <a:endParaRPr sz="1200"/>
                    </a:p>
                  </a:txBody>
                  <a:tcPr marT="91425" marB="91425" marR="91425" marL="91425"/>
                </a:tc>
                <a:tc>
                  <a:txBody>
                    <a:bodyPr/>
                    <a:lstStyle/>
                    <a:p>
                      <a:pPr indent="0" lvl="0" marL="0" rtl="0" algn="ctr">
                        <a:spcBef>
                          <a:spcPts val="0"/>
                        </a:spcBef>
                        <a:spcAft>
                          <a:spcPts val="0"/>
                        </a:spcAft>
                        <a:buNone/>
                      </a:pPr>
                      <a:r>
                        <a:rPr lang="it" sz="1200"/>
                        <a:t>1</a:t>
                      </a:r>
                      <a:endParaRPr sz="1200"/>
                    </a:p>
                  </a:txBody>
                  <a:tcPr marT="91425" marB="91425" marR="91425" marL="91425"/>
                </a:tc>
                <a:tc>
                  <a:txBody>
                    <a:bodyPr/>
                    <a:lstStyle/>
                    <a:p>
                      <a:pPr indent="0" lvl="0" marL="0" rtl="0" algn="ctr">
                        <a:spcBef>
                          <a:spcPts val="0"/>
                        </a:spcBef>
                        <a:spcAft>
                          <a:spcPts val="0"/>
                        </a:spcAft>
                        <a:buNone/>
                      </a:pPr>
                      <a:r>
                        <a:rPr lang="it" sz="1200"/>
                        <a:t>7.00$</a:t>
                      </a:r>
                      <a:endParaRPr sz="1200"/>
                    </a:p>
                  </a:txBody>
                  <a:tcPr marT="91425" marB="91425" marR="91425" marL="91425"/>
                </a:tc>
                <a:tc>
                  <a:txBody>
                    <a:bodyPr/>
                    <a:lstStyle/>
                    <a:p>
                      <a:pPr indent="0" lvl="0" marL="0" rtl="0" algn="ctr">
                        <a:spcBef>
                          <a:spcPts val="0"/>
                        </a:spcBef>
                        <a:spcAft>
                          <a:spcPts val="0"/>
                        </a:spcAft>
                        <a:buNone/>
                      </a:pPr>
                      <a:r>
                        <a:rPr lang="it" sz="1200"/>
                        <a:t>7.00$</a:t>
                      </a:r>
                      <a:endParaRPr sz="1200"/>
                    </a:p>
                  </a:txBody>
                  <a:tcPr marT="91425" marB="91425" marR="91425" marL="91425"/>
                </a:tc>
              </a:tr>
              <a:tr h="381000">
                <a:tc>
                  <a:txBody>
                    <a:bodyPr/>
                    <a:lstStyle/>
                    <a:p>
                      <a:pPr indent="0" lvl="0" marL="0" rtl="0" algn="ctr">
                        <a:spcBef>
                          <a:spcPts val="0"/>
                        </a:spcBef>
                        <a:spcAft>
                          <a:spcPts val="0"/>
                        </a:spcAft>
                        <a:buNone/>
                      </a:pPr>
                      <a:r>
                        <a:rPr lang="it" sz="1200"/>
                        <a:t>3</a:t>
                      </a:r>
                      <a:endParaRPr sz="1200"/>
                    </a:p>
                  </a:txBody>
                  <a:tcPr marT="91425" marB="91425" marR="91425" marL="91425"/>
                </a:tc>
                <a:tc>
                  <a:txBody>
                    <a:bodyPr/>
                    <a:lstStyle/>
                    <a:p>
                      <a:pPr indent="0" lvl="0" marL="0" rtl="0" algn="ctr">
                        <a:spcBef>
                          <a:spcPts val="0"/>
                        </a:spcBef>
                        <a:spcAft>
                          <a:spcPts val="0"/>
                        </a:spcAft>
                        <a:buNone/>
                      </a:pPr>
                      <a:r>
                        <a:rPr lang="it" sz="1200"/>
                        <a:t>Ura Gretz + Dioda</a:t>
                      </a:r>
                      <a:endParaRPr sz="1200"/>
                    </a:p>
                  </a:txBody>
                  <a:tcPr marT="91425" marB="91425" marR="91425" marL="91425"/>
                </a:tc>
                <a:tc>
                  <a:txBody>
                    <a:bodyPr/>
                    <a:lstStyle/>
                    <a:p>
                      <a:pPr indent="0" lvl="0" marL="0" rtl="0" algn="ctr">
                        <a:spcBef>
                          <a:spcPts val="0"/>
                        </a:spcBef>
                        <a:spcAft>
                          <a:spcPts val="0"/>
                        </a:spcAft>
                        <a:buNone/>
                      </a:pPr>
                      <a:r>
                        <a:rPr lang="it" sz="1200"/>
                        <a:t>1 set</a:t>
                      </a:r>
                      <a:endParaRPr sz="1200"/>
                    </a:p>
                  </a:txBody>
                  <a:tcPr marT="91425" marB="91425" marR="91425" marL="91425"/>
                </a:tc>
                <a:tc>
                  <a:txBody>
                    <a:bodyPr/>
                    <a:lstStyle/>
                    <a:p>
                      <a:pPr indent="0" lvl="0" marL="0" rtl="0" algn="ctr">
                        <a:spcBef>
                          <a:spcPts val="0"/>
                        </a:spcBef>
                        <a:spcAft>
                          <a:spcPts val="0"/>
                        </a:spcAft>
                        <a:buNone/>
                      </a:pPr>
                      <a:r>
                        <a:rPr lang="it" sz="1200"/>
                        <a:t>1.50$</a:t>
                      </a:r>
                      <a:endParaRPr sz="1200"/>
                    </a:p>
                  </a:txBody>
                  <a:tcPr marT="91425" marB="91425" marR="91425" marL="91425"/>
                </a:tc>
                <a:tc>
                  <a:txBody>
                    <a:bodyPr/>
                    <a:lstStyle/>
                    <a:p>
                      <a:pPr indent="0" lvl="0" marL="0" rtl="0" algn="ctr">
                        <a:spcBef>
                          <a:spcPts val="0"/>
                        </a:spcBef>
                        <a:spcAft>
                          <a:spcPts val="0"/>
                        </a:spcAft>
                        <a:buNone/>
                      </a:pPr>
                      <a:r>
                        <a:rPr lang="it" sz="1200"/>
                        <a:t>1.50$</a:t>
                      </a:r>
                      <a:endParaRPr sz="1200"/>
                    </a:p>
                  </a:txBody>
                  <a:tcPr marT="91425" marB="91425" marR="91425" marL="91425"/>
                </a:tc>
              </a:tr>
              <a:tr h="381000">
                <a:tc>
                  <a:txBody>
                    <a:bodyPr/>
                    <a:lstStyle/>
                    <a:p>
                      <a:pPr indent="0" lvl="0" marL="0" rtl="0" algn="ctr">
                        <a:spcBef>
                          <a:spcPts val="0"/>
                        </a:spcBef>
                        <a:spcAft>
                          <a:spcPts val="0"/>
                        </a:spcAft>
                        <a:buNone/>
                      </a:pPr>
                      <a:r>
                        <a:rPr lang="it" sz="1200"/>
                        <a:t>4</a:t>
                      </a:r>
                      <a:endParaRPr sz="1200"/>
                    </a:p>
                  </a:txBody>
                  <a:tcPr marT="91425" marB="91425" marR="91425" marL="91425"/>
                </a:tc>
                <a:tc>
                  <a:txBody>
                    <a:bodyPr/>
                    <a:lstStyle/>
                    <a:p>
                      <a:pPr indent="0" lvl="0" marL="0" rtl="0" algn="ctr">
                        <a:spcBef>
                          <a:spcPts val="0"/>
                        </a:spcBef>
                        <a:spcAft>
                          <a:spcPts val="0"/>
                        </a:spcAft>
                        <a:buNone/>
                      </a:pPr>
                      <a:r>
                        <a:rPr lang="it" sz="1200"/>
                        <a:t>Sensori i rrymës ACS712</a:t>
                      </a:r>
                      <a:endParaRPr sz="1200"/>
                    </a:p>
                  </a:txBody>
                  <a:tcPr marT="91425" marB="91425" marR="91425" marL="91425"/>
                </a:tc>
                <a:tc>
                  <a:txBody>
                    <a:bodyPr/>
                    <a:lstStyle/>
                    <a:p>
                      <a:pPr indent="0" lvl="0" marL="0" rtl="0" algn="ctr">
                        <a:spcBef>
                          <a:spcPts val="0"/>
                        </a:spcBef>
                        <a:spcAft>
                          <a:spcPts val="0"/>
                        </a:spcAft>
                        <a:buNone/>
                      </a:pPr>
                      <a:r>
                        <a:rPr lang="it" sz="1200"/>
                        <a:t>1</a:t>
                      </a:r>
                      <a:endParaRPr sz="1200"/>
                    </a:p>
                  </a:txBody>
                  <a:tcPr marT="91425" marB="91425" marR="91425" marL="91425"/>
                </a:tc>
                <a:tc>
                  <a:txBody>
                    <a:bodyPr/>
                    <a:lstStyle/>
                    <a:p>
                      <a:pPr indent="0" lvl="0" marL="0" rtl="0" algn="ctr">
                        <a:spcBef>
                          <a:spcPts val="0"/>
                        </a:spcBef>
                        <a:spcAft>
                          <a:spcPts val="0"/>
                        </a:spcAft>
                        <a:buNone/>
                      </a:pPr>
                      <a:r>
                        <a:rPr lang="it" sz="1200"/>
                        <a:t>4.00$</a:t>
                      </a:r>
                      <a:endParaRPr sz="1200"/>
                    </a:p>
                  </a:txBody>
                  <a:tcPr marT="91425" marB="91425" marR="91425" marL="91425"/>
                </a:tc>
                <a:tc>
                  <a:txBody>
                    <a:bodyPr/>
                    <a:lstStyle/>
                    <a:p>
                      <a:pPr indent="0" lvl="0" marL="0" rtl="0" algn="ctr">
                        <a:spcBef>
                          <a:spcPts val="0"/>
                        </a:spcBef>
                        <a:spcAft>
                          <a:spcPts val="0"/>
                        </a:spcAft>
                        <a:buNone/>
                      </a:pPr>
                      <a:r>
                        <a:rPr lang="it" sz="1200"/>
                        <a:t>4.00$</a:t>
                      </a:r>
                      <a:endParaRPr sz="1200"/>
                    </a:p>
                  </a:txBody>
                  <a:tcPr marT="91425" marB="91425" marR="91425" marL="91425"/>
                </a:tc>
              </a:tr>
              <a:tr h="381000">
                <a:tc>
                  <a:txBody>
                    <a:bodyPr/>
                    <a:lstStyle/>
                    <a:p>
                      <a:pPr indent="0" lvl="0" marL="0" rtl="0" algn="ctr">
                        <a:spcBef>
                          <a:spcPts val="0"/>
                        </a:spcBef>
                        <a:spcAft>
                          <a:spcPts val="0"/>
                        </a:spcAft>
                        <a:buNone/>
                      </a:pPr>
                      <a:r>
                        <a:rPr lang="it" sz="1200"/>
                        <a:t>5</a:t>
                      </a:r>
                      <a:endParaRPr sz="1200"/>
                    </a:p>
                  </a:txBody>
                  <a:tcPr marT="91425" marB="91425" marR="91425" marL="91425"/>
                </a:tc>
                <a:tc>
                  <a:txBody>
                    <a:bodyPr/>
                    <a:lstStyle/>
                    <a:p>
                      <a:pPr indent="0" lvl="0" marL="0" rtl="0" algn="ctr">
                        <a:spcBef>
                          <a:spcPts val="0"/>
                        </a:spcBef>
                        <a:spcAft>
                          <a:spcPts val="0"/>
                        </a:spcAft>
                        <a:buNone/>
                      </a:pPr>
                      <a:r>
                        <a:rPr lang="it" sz="1200"/>
                        <a:t>Rezistorë (R1, R2)</a:t>
                      </a:r>
                      <a:endParaRPr sz="1200"/>
                    </a:p>
                  </a:txBody>
                  <a:tcPr marT="91425" marB="91425" marR="91425" marL="91425"/>
                </a:tc>
                <a:tc>
                  <a:txBody>
                    <a:bodyPr/>
                    <a:lstStyle/>
                    <a:p>
                      <a:pPr indent="0" lvl="0" marL="0" rtl="0" algn="ctr">
                        <a:spcBef>
                          <a:spcPts val="0"/>
                        </a:spcBef>
                        <a:spcAft>
                          <a:spcPts val="0"/>
                        </a:spcAft>
                        <a:buNone/>
                      </a:pPr>
                      <a:r>
                        <a:rPr lang="it" sz="1200"/>
                        <a:t>2</a:t>
                      </a:r>
                      <a:endParaRPr sz="1200"/>
                    </a:p>
                  </a:txBody>
                  <a:tcPr marT="91425" marB="91425" marR="91425" marL="91425"/>
                </a:tc>
                <a:tc>
                  <a:txBody>
                    <a:bodyPr/>
                    <a:lstStyle/>
                    <a:p>
                      <a:pPr indent="0" lvl="0" marL="0" rtl="0" algn="ctr">
                        <a:spcBef>
                          <a:spcPts val="0"/>
                        </a:spcBef>
                        <a:spcAft>
                          <a:spcPts val="0"/>
                        </a:spcAft>
                        <a:buNone/>
                      </a:pPr>
                      <a:r>
                        <a:rPr lang="it" sz="1200"/>
                        <a:t>0.10$</a:t>
                      </a:r>
                      <a:endParaRPr sz="1200"/>
                    </a:p>
                  </a:txBody>
                  <a:tcPr marT="91425" marB="91425" marR="91425" marL="91425"/>
                </a:tc>
                <a:tc>
                  <a:txBody>
                    <a:bodyPr/>
                    <a:lstStyle/>
                    <a:p>
                      <a:pPr indent="0" lvl="0" marL="0" rtl="0" algn="ctr">
                        <a:spcBef>
                          <a:spcPts val="0"/>
                        </a:spcBef>
                        <a:spcAft>
                          <a:spcPts val="0"/>
                        </a:spcAft>
                        <a:buNone/>
                      </a:pPr>
                      <a:r>
                        <a:rPr lang="it" sz="1200"/>
                        <a:t>0.20$</a:t>
                      </a:r>
                      <a:endParaRPr sz="1200"/>
                    </a:p>
                  </a:txBody>
                  <a:tcPr marT="91425" marB="91425" marR="91425" marL="91425"/>
                </a:tc>
              </a:tr>
              <a:tr h="381000">
                <a:tc>
                  <a:txBody>
                    <a:bodyPr/>
                    <a:lstStyle/>
                    <a:p>
                      <a:pPr indent="0" lvl="0" marL="0" rtl="0" algn="ctr">
                        <a:spcBef>
                          <a:spcPts val="0"/>
                        </a:spcBef>
                        <a:spcAft>
                          <a:spcPts val="0"/>
                        </a:spcAft>
                        <a:buNone/>
                      </a:pPr>
                      <a:r>
                        <a:rPr lang="it" sz="1200"/>
                        <a:t>6</a:t>
                      </a:r>
                      <a:endParaRPr sz="1200"/>
                    </a:p>
                  </a:txBody>
                  <a:tcPr marT="91425" marB="91425" marR="91425" marL="91425"/>
                </a:tc>
                <a:tc>
                  <a:txBody>
                    <a:bodyPr/>
                    <a:lstStyle/>
                    <a:p>
                      <a:pPr indent="0" lvl="0" marL="0" rtl="0" algn="ctr">
                        <a:spcBef>
                          <a:spcPts val="0"/>
                        </a:spcBef>
                        <a:spcAft>
                          <a:spcPts val="0"/>
                        </a:spcAft>
                        <a:buNone/>
                      </a:pPr>
                      <a:r>
                        <a:rPr lang="it" sz="1200"/>
                        <a:t>LCD 16x2 me I2C</a:t>
                      </a:r>
                      <a:endParaRPr sz="1200"/>
                    </a:p>
                  </a:txBody>
                  <a:tcPr marT="91425" marB="91425" marR="91425" marL="91425"/>
                </a:tc>
                <a:tc>
                  <a:txBody>
                    <a:bodyPr/>
                    <a:lstStyle/>
                    <a:p>
                      <a:pPr indent="0" lvl="0" marL="0" rtl="0" algn="ctr">
                        <a:spcBef>
                          <a:spcPts val="0"/>
                        </a:spcBef>
                        <a:spcAft>
                          <a:spcPts val="0"/>
                        </a:spcAft>
                        <a:buNone/>
                      </a:pPr>
                      <a:r>
                        <a:rPr lang="it" sz="1200"/>
                        <a:t>1</a:t>
                      </a:r>
                      <a:endParaRPr sz="1200"/>
                    </a:p>
                  </a:txBody>
                  <a:tcPr marT="91425" marB="91425" marR="91425" marL="91425"/>
                </a:tc>
                <a:tc>
                  <a:txBody>
                    <a:bodyPr/>
                    <a:lstStyle/>
                    <a:p>
                      <a:pPr indent="0" lvl="0" marL="0" rtl="0" algn="ctr">
                        <a:spcBef>
                          <a:spcPts val="0"/>
                        </a:spcBef>
                        <a:spcAft>
                          <a:spcPts val="0"/>
                        </a:spcAft>
                        <a:buNone/>
                      </a:pPr>
                      <a:r>
                        <a:rPr lang="it" sz="1200"/>
                        <a:t>4.50$</a:t>
                      </a:r>
                      <a:endParaRPr sz="1200"/>
                    </a:p>
                  </a:txBody>
                  <a:tcPr marT="91425" marB="91425" marR="91425" marL="91425"/>
                </a:tc>
                <a:tc>
                  <a:txBody>
                    <a:bodyPr/>
                    <a:lstStyle/>
                    <a:p>
                      <a:pPr indent="0" lvl="0" marL="0" rtl="0" algn="ctr">
                        <a:spcBef>
                          <a:spcPts val="0"/>
                        </a:spcBef>
                        <a:spcAft>
                          <a:spcPts val="0"/>
                        </a:spcAft>
                        <a:buNone/>
                      </a:pPr>
                      <a:r>
                        <a:rPr lang="it" sz="1200"/>
                        <a:t>4.50$</a:t>
                      </a:r>
                      <a:endParaRPr sz="1200"/>
                    </a:p>
                  </a:txBody>
                  <a:tcPr marT="91425" marB="91425" marR="91425" marL="91425"/>
                </a:tc>
              </a:tr>
              <a:tr h="381000">
                <a:tc>
                  <a:txBody>
                    <a:bodyPr/>
                    <a:lstStyle/>
                    <a:p>
                      <a:pPr indent="0" lvl="0" marL="0" rtl="0" algn="ctr">
                        <a:spcBef>
                          <a:spcPts val="0"/>
                        </a:spcBef>
                        <a:spcAft>
                          <a:spcPts val="0"/>
                        </a:spcAft>
                        <a:buNone/>
                      </a:pPr>
                      <a:r>
                        <a:rPr lang="it" sz="1200"/>
                        <a:t>7</a:t>
                      </a:r>
                      <a:endParaRPr sz="12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it" sz="1200"/>
                        <a:t>Kapacitore</a:t>
                      </a:r>
                      <a:endParaRPr sz="12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it" sz="1200"/>
                        <a:t>1</a:t>
                      </a:r>
                      <a:endParaRPr sz="12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it" sz="1200"/>
                        <a:t>0.7</a:t>
                      </a:r>
                      <a:r>
                        <a:rPr lang="it" sz="1200"/>
                        <a:t>0$</a:t>
                      </a:r>
                      <a:endParaRPr sz="12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it" sz="1200"/>
                        <a:t>0.7</a:t>
                      </a:r>
                      <a:r>
                        <a:rPr lang="it" sz="1200"/>
                        <a:t>0$</a:t>
                      </a:r>
                      <a:endParaRPr sz="1200"/>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it" sz="1200"/>
                        <a:t>8</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it" sz="1200"/>
                        <a:t>Prize</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it" sz="1200"/>
                        <a:t>2</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it" sz="1200"/>
                        <a:t>2.50$</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it" sz="1200"/>
                        <a:t>5.00$</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gridSpan="4">
                  <a:txBody>
                    <a:bodyPr/>
                    <a:lstStyle/>
                    <a:p>
                      <a:pPr indent="0" lvl="0" marL="0" rtl="0" algn="ctr">
                        <a:spcBef>
                          <a:spcPts val="0"/>
                        </a:spcBef>
                        <a:spcAft>
                          <a:spcPts val="0"/>
                        </a:spcAft>
                        <a:buNone/>
                      </a:pPr>
                      <a:r>
                        <a:rPr lang="it" sz="1200"/>
                        <a:t>Totali</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hMerge="1"/>
                <a:tc hMerge="1"/>
                <a:tc hMerge="1"/>
                <a:tc>
                  <a:txBody>
                    <a:bodyPr/>
                    <a:lstStyle/>
                    <a:p>
                      <a:pPr indent="0" lvl="0" marL="0" rtl="0" algn="ctr">
                        <a:spcBef>
                          <a:spcPts val="0"/>
                        </a:spcBef>
                        <a:spcAft>
                          <a:spcPts val="0"/>
                        </a:spcAft>
                        <a:buNone/>
                      </a:pPr>
                      <a:r>
                        <a:rPr lang="it" sz="1200"/>
                        <a:t>32.90$</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mc:AlternateContent>
    <mc:Choice Requires="p14">
      <p:transition spd="slow" p14:dur="1000">
        <p:fade thruBlk="1"/>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3"/>
          <p:cNvSpPr/>
          <p:nvPr/>
        </p:nvSpPr>
        <p:spPr>
          <a:xfrm>
            <a:off x="0" y="0"/>
            <a:ext cx="9144000" cy="307800"/>
          </a:xfrm>
          <a:prstGeom prst="roundRect">
            <a:avLst>
              <a:gd fmla="val 0" name="adj"/>
            </a:avLst>
          </a:prstGeom>
          <a:solidFill>
            <a:srgbClr val="003A65"/>
          </a:solid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b="1" lang="it" sz="1800">
                <a:solidFill>
                  <a:schemeClr val="lt1"/>
                </a:solidFill>
                <a:latin typeface="Rajdhani"/>
                <a:ea typeface="Rajdhani"/>
                <a:cs typeface="Rajdhani"/>
                <a:sym typeface="Rajdhani"/>
              </a:rPr>
              <a:t>HFI 2024-2025 										</a:t>
            </a:r>
            <a:r>
              <a:rPr lang="it" sz="1800">
                <a:solidFill>
                  <a:schemeClr val="lt1"/>
                </a:solidFill>
                <a:latin typeface="Rajdhani"/>
                <a:ea typeface="Rajdhani"/>
                <a:cs typeface="Rajdhani"/>
                <a:sym typeface="Rajdhani"/>
              </a:rPr>
              <a:t>DEPARTAMENTI ELEKTRONIKË</a:t>
            </a:r>
            <a:endParaRPr sz="1800">
              <a:solidFill>
                <a:schemeClr val="lt1"/>
              </a:solidFill>
              <a:latin typeface="Rajdhani"/>
              <a:ea typeface="Rajdhani"/>
              <a:cs typeface="Rajdhani"/>
              <a:sym typeface="Rajdhani"/>
            </a:endParaRPr>
          </a:p>
        </p:txBody>
      </p:sp>
      <p:sp>
        <p:nvSpPr>
          <p:cNvPr id="145" name="Google Shape;145;p23"/>
          <p:cNvSpPr txBox="1"/>
          <p:nvPr>
            <p:ph type="title"/>
          </p:nvPr>
        </p:nvSpPr>
        <p:spPr>
          <a:xfrm>
            <a:off x="311575"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t>Analiza Kohore</a:t>
            </a:r>
            <a:endParaRPr b="1" u="sng">
              <a:solidFill>
                <a:srgbClr val="1155CC"/>
              </a:solidFill>
            </a:endParaRPr>
          </a:p>
        </p:txBody>
      </p:sp>
      <p:sp>
        <p:nvSpPr>
          <p:cNvPr id="146" name="Google Shape;146;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it"/>
              <a:t>‹#›</a:t>
            </a:fld>
            <a:endParaRPr/>
          </a:p>
        </p:txBody>
      </p:sp>
      <p:sp>
        <p:nvSpPr>
          <p:cNvPr id="147" name="Google Shape;147;p23"/>
          <p:cNvSpPr txBox="1"/>
          <p:nvPr/>
        </p:nvSpPr>
        <p:spPr>
          <a:xfrm>
            <a:off x="0" y="4835700"/>
            <a:ext cx="1121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800">
                <a:solidFill>
                  <a:schemeClr val="dk1"/>
                </a:solidFill>
                <a:latin typeface="Dosis"/>
                <a:ea typeface="Dosis"/>
                <a:cs typeface="Dosis"/>
                <a:sym typeface="Dosis"/>
              </a:rPr>
              <a:t>Rish. MPVx-A-2024-1</a:t>
            </a:r>
            <a:endParaRPr sz="800">
              <a:solidFill>
                <a:schemeClr val="dk1"/>
              </a:solidFill>
              <a:latin typeface="Dosis"/>
              <a:ea typeface="Dosis"/>
              <a:cs typeface="Dosis"/>
              <a:sym typeface="Dosis"/>
            </a:endParaRPr>
          </a:p>
        </p:txBody>
      </p:sp>
      <p:graphicFrame>
        <p:nvGraphicFramePr>
          <p:cNvPr id="148" name="Google Shape;148;p23"/>
          <p:cNvGraphicFramePr/>
          <p:nvPr/>
        </p:nvGraphicFramePr>
        <p:xfrm>
          <a:off x="952500" y="1251550"/>
          <a:ext cx="3000000" cy="3000000"/>
        </p:xfrm>
        <a:graphic>
          <a:graphicData uri="http://schemas.openxmlformats.org/drawingml/2006/table">
            <a:tbl>
              <a:tblPr>
                <a:noFill/>
                <a:tableStyleId>{0A4126AA-40AA-495C-8D76-F601D0DB7661}</a:tableStyleId>
              </a:tblPr>
              <a:tblGrid>
                <a:gridCol w="3619500"/>
                <a:gridCol w="3619500"/>
              </a:tblGrid>
              <a:tr h="381000">
                <a:tc>
                  <a:txBody>
                    <a:bodyPr/>
                    <a:lstStyle/>
                    <a:p>
                      <a:pPr indent="0" lvl="0" marL="0" rtl="0" algn="ctr">
                        <a:lnSpc>
                          <a:spcPct val="115000"/>
                        </a:lnSpc>
                        <a:spcBef>
                          <a:spcPts val="0"/>
                        </a:spcBef>
                        <a:spcAft>
                          <a:spcPts val="0"/>
                        </a:spcAft>
                        <a:buNone/>
                      </a:pPr>
                      <a:r>
                        <a:rPr b="1" lang="it"/>
                        <a:t>Faza</a:t>
                      </a:r>
                      <a:endParaRPr b="1"/>
                    </a:p>
                  </a:txBody>
                  <a:tcPr marT="91425" marB="91425" marR="91425" marL="91425"/>
                </a:tc>
                <a:tc>
                  <a:txBody>
                    <a:bodyPr/>
                    <a:lstStyle/>
                    <a:p>
                      <a:pPr indent="0" lvl="0" marL="0" rtl="0" algn="ctr">
                        <a:lnSpc>
                          <a:spcPct val="115000"/>
                        </a:lnSpc>
                        <a:spcBef>
                          <a:spcPts val="0"/>
                        </a:spcBef>
                        <a:spcAft>
                          <a:spcPts val="0"/>
                        </a:spcAft>
                        <a:buNone/>
                      </a:pPr>
                      <a:r>
                        <a:rPr b="1" lang="it"/>
                        <a:t>Orë të shpenzuara</a:t>
                      </a:r>
                      <a:endParaRPr b="1"/>
                    </a:p>
                  </a:txBody>
                  <a:tcPr marT="91425" marB="91425" marR="91425" marL="91425"/>
                </a:tc>
              </a:tr>
              <a:tr h="381000">
                <a:tc>
                  <a:txBody>
                    <a:bodyPr/>
                    <a:lstStyle/>
                    <a:p>
                      <a:pPr indent="0" lvl="0" marL="0" rtl="0" algn="l">
                        <a:spcBef>
                          <a:spcPts val="0"/>
                        </a:spcBef>
                        <a:spcAft>
                          <a:spcPts val="0"/>
                        </a:spcAft>
                        <a:buNone/>
                      </a:pPr>
                      <a:r>
                        <a:rPr lang="it"/>
                        <a:t>Kërkimi dhe planifikimi</a:t>
                      </a:r>
                      <a:endParaRPr/>
                    </a:p>
                  </a:txBody>
                  <a:tcPr marT="91425" marB="91425" marR="91425" marL="91425"/>
                </a:tc>
                <a:tc>
                  <a:txBody>
                    <a:bodyPr/>
                    <a:lstStyle/>
                    <a:p>
                      <a:pPr indent="0" lvl="0" marL="0" rtl="0" algn="l">
                        <a:spcBef>
                          <a:spcPts val="0"/>
                        </a:spcBef>
                        <a:spcAft>
                          <a:spcPts val="0"/>
                        </a:spcAft>
                        <a:buNone/>
                      </a:pPr>
                      <a:r>
                        <a:rPr lang="it"/>
                        <a:t>4 orë</a:t>
                      </a:r>
                      <a:endParaRPr/>
                    </a:p>
                  </a:txBody>
                  <a:tcPr marT="91425" marB="91425" marR="91425" marL="91425"/>
                </a:tc>
              </a:tr>
              <a:tr h="381000">
                <a:tc>
                  <a:txBody>
                    <a:bodyPr/>
                    <a:lstStyle/>
                    <a:p>
                      <a:pPr indent="0" lvl="0" marL="0" rtl="0" algn="l">
                        <a:spcBef>
                          <a:spcPts val="0"/>
                        </a:spcBef>
                        <a:spcAft>
                          <a:spcPts val="0"/>
                        </a:spcAft>
                        <a:buNone/>
                      </a:pPr>
                      <a:r>
                        <a:rPr lang="it"/>
                        <a:t>Simulimi dhe testimi virtual</a:t>
                      </a:r>
                      <a:endParaRPr/>
                    </a:p>
                  </a:txBody>
                  <a:tcPr marT="91425" marB="91425" marR="91425" marL="91425"/>
                </a:tc>
                <a:tc>
                  <a:txBody>
                    <a:bodyPr/>
                    <a:lstStyle/>
                    <a:p>
                      <a:pPr indent="0" lvl="0" marL="0" rtl="0" algn="l">
                        <a:spcBef>
                          <a:spcPts val="0"/>
                        </a:spcBef>
                        <a:spcAft>
                          <a:spcPts val="0"/>
                        </a:spcAft>
                        <a:buNone/>
                      </a:pPr>
                      <a:r>
                        <a:rPr lang="it"/>
                        <a:t>6 orë</a:t>
                      </a:r>
                      <a:endParaRPr/>
                    </a:p>
                  </a:txBody>
                  <a:tcPr marT="91425" marB="91425" marR="91425" marL="91425"/>
                </a:tc>
              </a:tr>
              <a:tr h="381000">
                <a:tc>
                  <a:txBody>
                    <a:bodyPr/>
                    <a:lstStyle/>
                    <a:p>
                      <a:pPr indent="0" lvl="0" marL="0" rtl="0" algn="l">
                        <a:spcBef>
                          <a:spcPts val="0"/>
                        </a:spcBef>
                        <a:spcAft>
                          <a:spcPts val="0"/>
                        </a:spcAft>
                        <a:buNone/>
                      </a:pPr>
                      <a:r>
                        <a:rPr lang="it"/>
                        <a:t>Ndërtimi fizik i qarkut</a:t>
                      </a:r>
                      <a:endParaRPr/>
                    </a:p>
                  </a:txBody>
                  <a:tcPr marT="91425" marB="91425" marR="91425" marL="91425"/>
                </a:tc>
                <a:tc>
                  <a:txBody>
                    <a:bodyPr/>
                    <a:lstStyle/>
                    <a:p>
                      <a:pPr indent="0" lvl="0" marL="0" rtl="0" algn="l">
                        <a:spcBef>
                          <a:spcPts val="0"/>
                        </a:spcBef>
                        <a:spcAft>
                          <a:spcPts val="0"/>
                        </a:spcAft>
                        <a:buNone/>
                      </a:pPr>
                      <a:r>
                        <a:rPr lang="it"/>
                        <a:t>6 orë</a:t>
                      </a:r>
                      <a:endParaRPr/>
                    </a:p>
                  </a:txBody>
                  <a:tcPr marT="91425" marB="91425" marR="91425" marL="91425"/>
                </a:tc>
              </a:tr>
              <a:tr h="381000">
                <a:tc>
                  <a:txBody>
                    <a:bodyPr/>
                    <a:lstStyle/>
                    <a:p>
                      <a:pPr indent="0" lvl="0" marL="0" rtl="0" algn="l">
                        <a:spcBef>
                          <a:spcPts val="0"/>
                        </a:spcBef>
                        <a:spcAft>
                          <a:spcPts val="0"/>
                        </a:spcAft>
                        <a:buNone/>
                      </a:pPr>
                      <a:r>
                        <a:rPr lang="it"/>
                        <a:t>Kodimi dhe konfigurimi LCD</a:t>
                      </a:r>
                      <a:endParaRPr/>
                    </a:p>
                  </a:txBody>
                  <a:tcPr marT="91425" marB="91425" marR="91425" marL="91425"/>
                </a:tc>
                <a:tc>
                  <a:txBody>
                    <a:bodyPr/>
                    <a:lstStyle/>
                    <a:p>
                      <a:pPr indent="0" lvl="0" marL="0" rtl="0" algn="l">
                        <a:spcBef>
                          <a:spcPts val="0"/>
                        </a:spcBef>
                        <a:spcAft>
                          <a:spcPts val="0"/>
                        </a:spcAft>
                        <a:buNone/>
                      </a:pPr>
                      <a:r>
                        <a:rPr lang="it"/>
                        <a:t>3 orë</a:t>
                      </a:r>
                      <a:endParaRPr/>
                    </a:p>
                  </a:txBody>
                  <a:tcPr marT="91425" marB="91425" marR="91425" marL="91425"/>
                </a:tc>
              </a:tr>
              <a:tr h="381000">
                <a:tc>
                  <a:txBody>
                    <a:bodyPr/>
                    <a:lstStyle/>
                    <a:p>
                      <a:pPr indent="0" lvl="0" marL="0" rtl="0" algn="l">
                        <a:spcBef>
                          <a:spcPts val="0"/>
                        </a:spcBef>
                        <a:spcAft>
                          <a:spcPts val="0"/>
                        </a:spcAft>
                        <a:buNone/>
                      </a:pPr>
                      <a:r>
                        <a:rPr lang="it"/>
                        <a:t>Matjet dhe analiza</a:t>
                      </a:r>
                      <a:endParaRPr/>
                    </a:p>
                  </a:txBody>
                  <a:tcPr marT="91425" marB="91425" marR="91425" marL="91425"/>
                </a:tc>
                <a:tc>
                  <a:txBody>
                    <a:bodyPr/>
                    <a:lstStyle/>
                    <a:p>
                      <a:pPr indent="0" lvl="0" marL="0" rtl="0" algn="l">
                        <a:spcBef>
                          <a:spcPts val="0"/>
                        </a:spcBef>
                        <a:spcAft>
                          <a:spcPts val="0"/>
                        </a:spcAft>
                        <a:buNone/>
                      </a:pPr>
                      <a:r>
                        <a:rPr lang="it"/>
                        <a:t>6 orë</a:t>
                      </a:r>
                      <a:endParaRPr/>
                    </a:p>
                  </a:txBody>
                  <a:tcPr marT="91425" marB="91425" marR="91425" marL="91425"/>
                </a:tc>
              </a:tr>
              <a:tr h="381000">
                <a:tc>
                  <a:txBody>
                    <a:bodyPr/>
                    <a:lstStyle/>
                    <a:p>
                      <a:pPr indent="0" lvl="0" marL="0" rtl="0" algn="l">
                        <a:spcBef>
                          <a:spcPts val="0"/>
                        </a:spcBef>
                        <a:spcAft>
                          <a:spcPts val="0"/>
                        </a:spcAft>
                        <a:buNone/>
                      </a:pPr>
                      <a:r>
                        <a:rPr lang="it"/>
                        <a:t>Dokumentimi i projektit</a:t>
                      </a:r>
                      <a:endParaRPr/>
                    </a:p>
                  </a:txBody>
                  <a:tcPr marT="91425" marB="91425" marR="91425" marL="91425"/>
                </a:tc>
                <a:tc>
                  <a:txBody>
                    <a:bodyPr/>
                    <a:lstStyle/>
                    <a:p>
                      <a:pPr indent="0" lvl="0" marL="0" rtl="0" algn="l">
                        <a:spcBef>
                          <a:spcPts val="0"/>
                        </a:spcBef>
                        <a:spcAft>
                          <a:spcPts val="0"/>
                        </a:spcAft>
                        <a:buNone/>
                      </a:pPr>
                      <a:r>
                        <a:rPr lang="it"/>
                        <a:t>5 orë</a:t>
                      </a:r>
                      <a:endParaRPr/>
                    </a:p>
                  </a:txBody>
                  <a:tcPr marT="91425" marB="91425" marR="91425" marL="91425"/>
                </a:tc>
              </a:tr>
              <a:tr h="381000">
                <a:tc>
                  <a:txBody>
                    <a:bodyPr/>
                    <a:lstStyle/>
                    <a:p>
                      <a:pPr indent="0" lvl="0" marL="0" rtl="0" algn="l">
                        <a:spcBef>
                          <a:spcPts val="0"/>
                        </a:spcBef>
                        <a:spcAft>
                          <a:spcPts val="0"/>
                        </a:spcAft>
                        <a:buNone/>
                      </a:pPr>
                      <a:r>
                        <a:rPr b="1" lang="it"/>
                        <a:t>Totali</a:t>
                      </a:r>
                      <a:endParaRPr b="1"/>
                    </a:p>
                  </a:txBody>
                  <a:tcPr marT="91425" marB="91425" marR="91425" marL="91425"/>
                </a:tc>
                <a:tc>
                  <a:txBody>
                    <a:bodyPr/>
                    <a:lstStyle/>
                    <a:p>
                      <a:pPr indent="0" lvl="0" marL="0" rtl="0" algn="l">
                        <a:spcBef>
                          <a:spcPts val="0"/>
                        </a:spcBef>
                        <a:spcAft>
                          <a:spcPts val="0"/>
                        </a:spcAft>
                        <a:buNone/>
                      </a:pPr>
                      <a:r>
                        <a:rPr b="1" lang="it"/>
                        <a:t>30 </a:t>
                      </a:r>
                      <a:r>
                        <a:rPr b="1" lang="it"/>
                        <a:t>orë</a:t>
                      </a:r>
                      <a:endParaRPr b="1"/>
                    </a:p>
                  </a:txBody>
                  <a:tcPr marT="91425" marB="91425" marR="91425" marL="91425"/>
                </a:tc>
              </a:tr>
            </a:tbl>
          </a:graphicData>
        </a:graphic>
      </p:graphicFrame>
    </p:spTree>
  </p:cSld>
  <p:clrMapOvr>
    <a:masterClrMapping/>
  </p:clrMapOvr>
  <mc:AlternateContent>
    <mc:Choice Requires="p14">
      <p:transition spd="slow" p14:dur="1000">
        <p:fade thruBlk="1"/>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4"/>
          <p:cNvSpPr/>
          <p:nvPr/>
        </p:nvSpPr>
        <p:spPr>
          <a:xfrm>
            <a:off x="0" y="0"/>
            <a:ext cx="9144000" cy="307800"/>
          </a:xfrm>
          <a:prstGeom prst="roundRect">
            <a:avLst>
              <a:gd fmla="val 0" name="adj"/>
            </a:avLst>
          </a:prstGeom>
          <a:solidFill>
            <a:srgbClr val="003A65"/>
          </a:solid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b="1" lang="it" sz="1800">
                <a:solidFill>
                  <a:schemeClr val="lt1"/>
                </a:solidFill>
                <a:latin typeface="Rajdhani"/>
                <a:ea typeface="Rajdhani"/>
                <a:cs typeface="Rajdhani"/>
                <a:sym typeface="Rajdhani"/>
              </a:rPr>
              <a:t>HFI 2024-2025 										</a:t>
            </a:r>
            <a:r>
              <a:rPr lang="it" sz="1800">
                <a:solidFill>
                  <a:schemeClr val="lt1"/>
                </a:solidFill>
                <a:latin typeface="Rajdhani"/>
                <a:ea typeface="Rajdhani"/>
                <a:cs typeface="Rajdhani"/>
                <a:sym typeface="Rajdhani"/>
              </a:rPr>
              <a:t>DEPARTAMENTI ELEKTRONIKË</a:t>
            </a:r>
            <a:endParaRPr sz="1800">
              <a:solidFill>
                <a:schemeClr val="lt1"/>
              </a:solidFill>
              <a:latin typeface="Rajdhani"/>
              <a:ea typeface="Rajdhani"/>
              <a:cs typeface="Rajdhani"/>
              <a:sym typeface="Rajdhani"/>
            </a:endParaRPr>
          </a:p>
        </p:txBody>
      </p:sp>
      <p:sp>
        <p:nvSpPr>
          <p:cNvPr id="154" name="Google Shape;154;p24"/>
          <p:cNvSpPr txBox="1"/>
          <p:nvPr>
            <p:ph type="title"/>
          </p:nvPr>
        </p:nvSpPr>
        <p:spPr>
          <a:xfrm>
            <a:off x="311575"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t>Demonstrim</a:t>
            </a:r>
            <a:endParaRPr b="1"/>
          </a:p>
        </p:txBody>
      </p:sp>
      <p:sp>
        <p:nvSpPr>
          <p:cNvPr id="155" name="Google Shape;155;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it"/>
              <a:t>‹#›</a:t>
            </a:fld>
            <a:endParaRPr/>
          </a:p>
        </p:txBody>
      </p:sp>
      <p:sp>
        <p:nvSpPr>
          <p:cNvPr id="156" name="Google Shape;156;p24"/>
          <p:cNvSpPr txBox="1"/>
          <p:nvPr/>
        </p:nvSpPr>
        <p:spPr>
          <a:xfrm>
            <a:off x="0" y="4835700"/>
            <a:ext cx="1121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800">
                <a:solidFill>
                  <a:schemeClr val="dk1"/>
                </a:solidFill>
                <a:latin typeface="Dosis"/>
                <a:ea typeface="Dosis"/>
                <a:cs typeface="Dosis"/>
                <a:sym typeface="Dosis"/>
              </a:rPr>
              <a:t>Rish. MPVx-A-2024-1</a:t>
            </a:r>
            <a:endParaRPr sz="800">
              <a:solidFill>
                <a:schemeClr val="dk1"/>
              </a:solidFill>
              <a:latin typeface="Dosis"/>
              <a:ea typeface="Dosis"/>
              <a:cs typeface="Dosis"/>
              <a:sym typeface="Dosis"/>
            </a:endParaRPr>
          </a:p>
        </p:txBody>
      </p:sp>
      <p:pic>
        <p:nvPicPr>
          <p:cNvPr id="157" name="Google Shape;157;p24" title="Screen Recording 2025-04-05 221449.mp4">
            <a:hlinkClick r:id="rId3"/>
          </p:cNvPr>
          <p:cNvPicPr preferRelativeResize="0"/>
          <p:nvPr/>
        </p:nvPicPr>
        <p:blipFill>
          <a:blip r:embed="rId4">
            <a:alphaModFix/>
          </a:blip>
          <a:stretch>
            <a:fillRect/>
          </a:stretch>
        </p:blipFill>
        <p:spPr>
          <a:xfrm>
            <a:off x="311575" y="1154950"/>
            <a:ext cx="2830348" cy="1463449"/>
          </a:xfrm>
          <a:prstGeom prst="rect">
            <a:avLst/>
          </a:prstGeom>
          <a:noFill/>
          <a:ln>
            <a:noFill/>
          </a:ln>
        </p:spPr>
      </p:pic>
      <p:pic>
        <p:nvPicPr>
          <p:cNvPr id="158" name="Google Shape;158;p24" title="20250324_145414.mp4">
            <a:hlinkClick r:id="rId5"/>
          </p:cNvPr>
          <p:cNvPicPr preferRelativeResize="0"/>
          <p:nvPr/>
        </p:nvPicPr>
        <p:blipFill>
          <a:blip r:embed="rId6">
            <a:alphaModFix/>
          </a:blip>
          <a:stretch>
            <a:fillRect/>
          </a:stretch>
        </p:blipFill>
        <p:spPr>
          <a:xfrm>
            <a:off x="6780248" y="799425"/>
            <a:ext cx="2149300" cy="3820978"/>
          </a:xfrm>
          <a:prstGeom prst="rect">
            <a:avLst/>
          </a:prstGeom>
          <a:noFill/>
          <a:ln>
            <a:noFill/>
          </a:ln>
        </p:spPr>
      </p:pic>
      <p:pic>
        <p:nvPicPr>
          <p:cNvPr id="159" name="Google Shape;159;p24" title="20250325_152300.mp4">
            <a:hlinkClick r:id="rId7"/>
          </p:cNvPr>
          <p:cNvPicPr preferRelativeResize="0"/>
          <p:nvPr/>
        </p:nvPicPr>
        <p:blipFill>
          <a:blip r:embed="rId8">
            <a:alphaModFix/>
          </a:blip>
          <a:stretch>
            <a:fillRect/>
          </a:stretch>
        </p:blipFill>
        <p:spPr>
          <a:xfrm>
            <a:off x="3660223" y="1154950"/>
            <a:ext cx="2601725" cy="1463451"/>
          </a:xfrm>
          <a:prstGeom prst="rect">
            <a:avLst/>
          </a:prstGeom>
          <a:noFill/>
          <a:ln>
            <a:noFill/>
          </a:ln>
        </p:spPr>
      </p:pic>
      <p:sp>
        <p:nvSpPr>
          <p:cNvPr id="160" name="Google Shape;160;p24"/>
          <p:cNvSpPr txBox="1"/>
          <p:nvPr/>
        </p:nvSpPr>
        <p:spPr>
          <a:xfrm>
            <a:off x="306975" y="2805625"/>
            <a:ext cx="2830500" cy="48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it" sz="1800">
                <a:solidFill>
                  <a:schemeClr val="dk2"/>
                </a:solidFill>
              </a:rPr>
              <a:t>Simulimi</a:t>
            </a:r>
            <a:endParaRPr sz="1800">
              <a:solidFill>
                <a:schemeClr val="dk2"/>
              </a:solidFill>
            </a:endParaRPr>
          </a:p>
        </p:txBody>
      </p:sp>
      <p:sp>
        <p:nvSpPr>
          <p:cNvPr id="161" name="Google Shape;161;p24"/>
          <p:cNvSpPr txBox="1"/>
          <p:nvPr/>
        </p:nvSpPr>
        <p:spPr>
          <a:xfrm>
            <a:off x="3658062" y="2805625"/>
            <a:ext cx="2601600" cy="48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it" sz="1800">
                <a:solidFill>
                  <a:schemeClr val="dk2"/>
                </a:solidFill>
              </a:rPr>
              <a:t>Kalibrimi</a:t>
            </a:r>
            <a:endParaRPr sz="1800">
              <a:solidFill>
                <a:schemeClr val="dk2"/>
              </a:solidFill>
            </a:endParaRPr>
          </a:p>
        </p:txBody>
      </p:sp>
      <p:sp>
        <p:nvSpPr>
          <p:cNvPr id="162" name="Google Shape;162;p24"/>
          <p:cNvSpPr txBox="1"/>
          <p:nvPr/>
        </p:nvSpPr>
        <p:spPr>
          <a:xfrm>
            <a:off x="4185325" y="3760750"/>
            <a:ext cx="2149200" cy="48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it" sz="1800">
                <a:solidFill>
                  <a:schemeClr val="dk2"/>
                </a:solidFill>
              </a:rPr>
              <a:t>Testimi</a:t>
            </a:r>
            <a:endParaRPr sz="1800">
              <a:solidFill>
                <a:schemeClr val="dk2"/>
              </a:solidFill>
            </a:endParaRPr>
          </a:p>
        </p:txBody>
      </p:sp>
      <p:cxnSp>
        <p:nvCxnSpPr>
          <p:cNvPr id="163" name="Google Shape;163;p24"/>
          <p:cNvCxnSpPr/>
          <p:nvPr/>
        </p:nvCxnSpPr>
        <p:spPr>
          <a:xfrm flipH="1" rot="10800000">
            <a:off x="5259773" y="2709914"/>
            <a:ext cx="1520400" cy="1050900"/>
          </a:xfrm>
          <a:prstGeom prst="curvedConnector3">
            <a:avLst>
              <a:gd fmla="val 66920" name="adj1"/>
            </a:avLst>
          </a:prstGeom>
          <a:noFill/>
          <a:ln cap="flat" cmpd="sng" w="19050">
            <a:solidFill>
              <a:srgbClr val="4A86E8"/>
            </a:solidFill>
            <a:prstDash val="solid"/>
            <a:round/>
            <a:headEnd len="med" w="med" type="oval"/>
            <a:tailEnd len="med" w="med" type="stealth"/>
          </a:ln>
        </p:spPr>
      </p:cxnSp>
    </p:spTree>
  </p:cSld>
  <p:clrMapOvr>
    <a:masterClrMapping/>
  </p:clrMapOvr>
  <mc:AlternateContent>
    <mc:Choice Requires="p14">
      <p:transition spd="slow" p14:dur="1000">
        <p:fade thruBlk="1"/>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gtEl>
                                        <p:attrNameLst>
                                          <p:attrName>style.visibility</p:attrName>
                                        </p:attrNameLst>
                                      </p:cBhvr>
                                      <p:to>
                                        <p:strVal val="visible"/>
                                      </p:to>
                                    </p:set>
                                    <p:animEffect filter="fade" transition="in">
                                      <p:cBhvr>
                                        <p:cTn dur="1000"/>
                                        <p:tgtEl>
                                          <p:spTgt spid="1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gtEl>
                                        <p:attrNameLst>
                                          <p:attrName>style.visibility</p:attrName>
                                        </p:attrNameLst>
                                      </p:cBhvr>
                                      <p:to>
                                        <p:strVal val="visible"/>
                                      </p:to>
                                    </p:set>
                                    <p:animEffect filter="fade" transition="in">
                                      <p:cBhvr>
                                        <p:cTn dur="1000"/>
                                        <p:tgtEl>
                                          <p:spTgt spid="1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
                                        </p:tgtEl>
                                        <p:attrNameLst>
                                          <p:attrName>style.visibility</p:attrName>
                                        </p:attrNameLst>
                                      </p:cBhvr>
                                      <p:to>
                                        <p:strVal val="visible"/>
                                      </p:to>
                                    </p:set>
                                    <p:animEffect filter="fade" transition="in">
                                      <p:cBhvr>
                                        <p:cTn dur="1000"/>
                                        <p:tgtEl>
                                          <p:spTgt spid="1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5"/>
          <p:cNvSpPr/>
          <p:nvPr/>
        </p:nvSpPr>
        <p:spPr>
          <a:xfrm>
            <a:off x="0" y="0"/>
            <a:ext cx="9144000" cy="307800"/>
          </a:xfrm>
          <a:prstGeom prst="roundRect">
            <a:avLst>
              <a:gd fmla="val 0" name="adj"/>
            </a:avLst>
          </a:prstGeom>
          <a:solidFill>
            <a:srgbClr val="003A65"/>
          </a:solid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b="1" lang="it" sz="1800">
                <a:solidFill>
                  <a:schemeClr val="lt1"/>
                </a:solidFill>
                <a:latin typeface="Rajdhani"/>
                <a:ea typeface="Rajdhani"/>
                <a:cs typeface="Rajdhani"/>
                <a:sym typeface="Rajdhani"/>
              </a:rPr>
              <a:t>HFI 2024-2025 										</a:t>
            </a:r>
            <a:r>
              <a:rPr lang="it" sz="1800">
                <a:solidFill>
                  <a:schemeClr val="lt1"/>
                </a:solidFill>
                <a:latin typeface="Rajdhani"/>
                <a:ea typeface="Rajdhani"/>
                <a:cs typeface="Rajdhani"/>
                <a:sym typeface="Rajdhani"/>
              </a:rPr>
              <a:t>DEPARTAMENTI ELEKTRONIKË</a:t>
            </a:r>
            <a:endParaRPr sz="1800">
              <a:solidFill>
                <a:schemeClr val="lt1"/>
              </a:solidFill>
              <a:latin typeface="Rajdhani"/>
              <a:ea typeface="Rajdhani"/>
              <a:cs typeface="Rajdhani"/>
              <a:sym typeface="Rajdhani"/>
            </a:endParaRPr>
          </a:p>
        </p:txBody>
      </p:sp>
      <p:sp>
        <p:nvSpPr>
          <p:cNvPr id="169" name="Google Shape;169;p25"/>
          <p:cNvSpPr txBox="1"/>
          <p:nvPr>
            <p:ph type="title"/>
          </p:nvPr>
        </p:nvSpPr>
        <p:spPr>
          <a:xfrm>
            <a:off x="311575"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t>Përmbledhje</a:t>
            </a:r>
            <a:endParaRPr b="1"/>
          </a:p>
        </p:txBody>
      </p:sp>
      <p:sp>
        <p:nvSpPr>
          <p:cNvPr id="170" name="Google Shape;170;p25"/>
          <p:cNvSpPr txBox="1"/>
          <p:nvPr>
            <p:ph idx="1" type="body"/>
          </p:nvPr>
        </p:nvSpPr>
        <p:spPr>
          <a:xfrm>
            <a:off x="311700" y="1152475"/>
            <a:ext cx="4260300" cy="3416400"/>
          </a:xfrm>
          <a:prstGeom prst="rect">
            <a:avLst/>
          </a:prstGeom>
        </p:spPr>
        <p:txBody>
          <a:bodyPr anchorCtr="0" anchor="t" bIns="91425" lIns="91425" spcFirstLastPara="1" rIns="91425" wrap="square" tIns="91425">
            <a:noAutofit/>
          </a:bodyPr>
          <a:lstStyle/>
          <a:p>
            <a:pPr indent="0" lvl="0" marL="0" rtl="0" algn="l">
              <a:spcBef>
                <a:spcPts val="500"/>
              </a:spcBef>
              <a:spcAft>
                <a:spcPts val="0"/>
              </a:spcAft>
              <a:buClr>
                <a:schemeClr val="dk1"/>
              </a:buClr>
              <a:buSzPts val="1100"/>
              <a:buFont typeface="Arial"/>
              <a:buNone/>
            </a:pPr>
            <a:r>
              <a:rPr b="1" lang="it" sz="1100">
                <a:solidFill>
                  <a:schemeClr val="dk1"/>
                </a:solidFill>
              </a:rPr>
              <a:t>Statusi i projektit:</a:t>
            </a:r>
            <a:br>
              <a:rPr b="1" lang="it" sz="1100">
                <a:solidFill>
                  <a:schemeClr val="dk1"/>
                </a:solidFill>
              </a:rPr>
            </a:br>
            <a:r>
              <a:rPr lang="it" sz="1100">
                <a:solidFill>
                  <a:schemeClr val="dk1"/>
                </a:solidFill>
              </a:rPr>
              <a:t> Ideja është </a:t>
            </a:r>
            <a:r>
              <a:rPr b="1" lang="it" sz="1100">
                <a:solidFill>
                  <a:schemeClr val="dk1"/>
                </a:solidFill>
              </a:rPr>
              <a:t>simuluar</a:t>
            </a:r>
            <a:r>
              <a:rPr lang="it" sz="1100">
                <a:solidFill>
                  <a:schemeClr val="dk1"/>
                </a:solidFill>
              </a:rPr>
              <a:t> dhe </a:t>
            </a:r>
            <a:r>
              <a:rPr b="1" lang="it" sz="1100">
                <a:solidFill>
                  <a:schemeClr val="dk1"/>
                </a:solidFill>
              </a:rPr>
              <a:t>realizuar praktikisht</a:t>
            </a:r>
            <a:r>
              <a:rPr lang="it" sz="1100">
                <a:solidFill>
                  <a:schemeClr val="dk1"/>
                </a:solidFill>
              </a:rPr>
              <a:t> me sukses.</a:t>
            </a:r>
            <a:br>
              <a:rPr lang="it" sz="1100">
                <a:solidFill>
                  <a:schemeClr val="dk1"/>
                </a:solidFill>
              </a:rPr>
            </a:br>
            <a:r>
              <a:rPr lang="it" sz="1100">
                <a:solidFill>
                  <a:schemeClr val="dk1"/>
                </a:solidFill>
              </a:rPr>
              <a:t> Sistemi funksionon dhe jep matje të sakta në kohë reale.</a:t>
            </a:r>
            <a:endParaRPr sz="1100">
              <a:solidFill>
                <a:schemeClr val="dk1"/>
              </a:solidFill>
            </a:endParaRPr>
          </a:p>
          <a:p>
            <a:pPr indent="0" lvl="0" marL="0" rtl="0" algn="l">
              <a:spcBef>
                <a:spcPts val="500"/>
              </a:spcBef>
              <a:spcAft>
                <a:spcPts val="0"/>
              </a:spcAft>
              <a:buClr>
                <a:schemeClr val="dk1"/>
              </a:buClr>
              <a:buSzPts val="1100"/>
              <a:buFont typeface="Arial"/>
              <a:buNone/>
            </a:pPr>
            <a:r>
              <a:rPr b="1" lang="it" sz="1100">
                <a:solidFill>
                  <a:schemeClr val="dk1"/>
                </a:solidFill>
              </a:rPr>
              <a:t>Njohuritë e përdorura:</a:t>
            </a:r>
            <a:endParaRPr b="1" sz="1100">
              <a:solidFill>
                <a:schemeClr val="dk1"/>
              </a:solidFill>
            </a:endParaRPr>
          </a:p>
          <a:p>
            <a:pPr indent="-298450" lvl="0" marL="457200" rtl="0" algn="l">
              <a:spcBef>
                <a:spcPts val="500"/>
              </a:spcBef>
              <a:spcAft>
                <a:spcPts val="0"/>
              </a:spcAft>
              <a:buClr>
                <a:schemeClr val="dk1"/>
              </a:buClr>
              <a:buSzPts val="1100"/>
              <a:buChar char="●"/>
            </a:pPr>
            <a:r>
              <a:rPr lang="it" sz="1100">
                <a:solidFill>
                  <a:schemeClr val="dk1"/>
                </a:solidFill>
              </a:rPr>
              <a:t>Elektronikë bazë (ndarës tensioni, ura Gretz)</a:t>
            </a:r>
            <a:endParaRPr sz="1100">
              <a:solidFill>
                <a:schemeClr val="dk1"/>
              </a:solidFill>
            </a:endParaRPr>
          </a:p>
          <a:p>
            <a:pPr indent="-298450" lvl="0" marL="457200" rtl="0" algn="l">
              <a:spcBef>
                <a:spcPts val="500"/>
              </a:spcBef>
              <a:spcAft>
                <a:spcPts val="0"/>
              </a:spcAft>
              <a:buClr>
                <a:schemeClr val="dk1"/>
              </a:buClr>
              <a:buSzPts val="1100"/>
              <a:buChar char="●"/>
            </a:pPr>
            <a:r>
              <a:rPr lang="it" sz="1100">
                <a:solidFill>
                  <a:schemeClr val="dk1"/>
                </a:solidFill>
              </a:rPr>
              <a:t>Mikroprocesorë (Arduino UNO)</a:t>
            </a:r>
            <a:endParaRPr sz="1100">
              <a:solidFill>
                <a:schemeClr val="dk1"/>
              </a:solidFill>
            </a:endParaRPr>
          </a:p>
          <a:p>
            <a:pPr indent="-298450" lvl="0" marL="457200" rtl="0" algn="l">
              <a:spcBef>
                <a:spcPts val="500"/>
              </a:spcBef>
              <a:spcAft>
                <a:spcPts val="0"/>
              </a:spcAft>
              <a:buClr>
                <a:schemeClr val="dk1"/>
              </a:buClr>
              <a:buSzPts val="1100"/>
              <a:buChar char="●"/>
            </a:pPr>
            <a:r>
              <a:rPr lang="it" sz="1100">
                <a:solidFill>
                  <a:schemeClr val="dk1"/>
                </a:solidFill>
              </a:rPr>
              <a:t>Matje elektrike (tension, rrymë, fuqi, energji)</a:t>
            </a:r>
            <a:endParaRPr sz="1100">
              <a:solidFill>
                <a:schemeClr val="dk1"/>
              </a:solidFill>
            </a:endParaRPr>
          </a:p>
          <a:p>
            <a:pPr indent="-298450" lvl="0" marL="457200" rtl="0" algn="l">
              <a:spcBef>
                <a:spcPts val="500"/>
              </a:spcBef>
              <a:spcAft>
                <a:spcPts val="0"/>
              </a:spcAft>
              <a:buClr>
                <a:schemeClr val="dk1"/>
              </a:buClr>
              <a:buSzPts val="1100"/>
              <a:buChar char="●"/>
            </a:pPr>
            <a:r>
              <a:rPr lang="it" sz="1100">
                <a:solidFill>
                  <a:schemeClr val="dk1"/>
                </a:solidFill>
              </a:rPr>
              <a:t>Programim në C/C++ për Arduino</a:t>
            </a:r>
            <a:endParaRPr sz="1100">
              <a:solidFill>
                <a:schemeClr val="dk1"/>
              </a:solidFill>
            </a:endParaRPr>
          </a:p>
          <a:p>
            <a:pPr indent="-298450" lvl="0" marL="457200" rtl="0" algn="l">
              <a:spcBef>
                <a:spcPts val="500"/>
              </a:spcBef>
              <a:spcAft>
                <a:spcPts val="500"/>
              </a:spcAft>
              <a:buClr>
                <a:schemeClr val="dk1"/>
              </a:buClr>
              <a:buSzPts val="1100"/>
              <a:buChar char="●"/>
            </a:pPr>
            <a:r>
              <a:rPr lang="it" sz="1100">
                <a:solidFill>
                  <a:schemeClr val="dk1"/>
                </a:solidFill>
              </a:rPr>
              <a:t>Përdorimi i LCD dhe sensorëve analogë</a:t>
            </a:r>
            <a:endParaRPr>
              <a:solidFill>
                <a:schemeClr val="dk1"/>
              </a:solidFill>
              <a:latin typeface="Arial Narrow"/>
              <a:ea typeface="Arial Narrow"/>
              <a:cs typeface="Arial Narrow"/>
              <a:sym typeface="Arial Narrow"/>
            </a:endParaRPr>
          </a:p>
        </p:txBody>
      </p:sp>
      <p:sp>
        <p:nvSpPr>
          <p:cNvPr id="171" name="Google Shape;171;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it"/>
              <a:t>‹#›</a:t>
            </a:fld>
            <a:endParaRPr/>
          </a:p>
        </p:txBody>
      </p:sp>
      <p:sp>
        <p:nvSpPr>
          <p:cNvPr id="172" name="Google Shape;172;p25"/>
          <p:cNvSpPr txBox="1"/>
          <p:nvPr/>
        </p:nvSpPr>
        <p:spPr>
          <a:xfrm>
            <a:off x="0" y="4835700"/>
            <a:ext cx="1121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800">
                <a:solidFill>
                  <a:schemeClr val="dk1"/>
                </a:solidFill>
                <a:latin typeface="Dosis"/>
                <a:ea typeface="Dosis"/>
                <a:cs typeface="Dosis"/>
                <a:sym typeface="Dosis"/>
              </a:rPr>
              <a:t>Rish. MPVx-A-2024-1</a:t>
            </a:r>
            <a:endParaRPr sz="800">
              <a:solidFill>
                <a:schemeClr val="dk1"/>
              </a:solidFill>
              <a:latin typeface="Dosis"/>
              <a:ea typeface="Dosis"/>
              <a:cs typeface="Dosis"/>
              <a:sym typeface="Dosis"/>
            </a:endParaRPr>
          </a:p>
        </p:txBody>
      </p:sp>
      <p:sp>
        <p:nvSpPr>
          <p:cNvPr id="173" name="Google Shape;173;p25"/>
          <p:cNvSpPr txBox="1"/>
          <p:nvPr/>
        </p:nvSpPr>
        <p:spPr>
          <a:xfrm>
            <a:off x="4579800" y="1164125"/>
            <a:ext cx="4252500" cy="3414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500"/>
              </a:spcBef>
              <a:spcAft>
                <a:spcPts val="0"/>
              </a:spcAft>
              <a:buClr>
                <a:schemeClr val="dk1"/>
              </a:buClr>
              <a:buSzPts val="1100"/>
              <a:buFont typeface="Arial"/>
              <a:buNone/>
            </a:pPr>
            <a:r>
              <a:rPr b="1" lang="it" sz="1100">
                <a:solidFill>
                  <a:schemeClr val="dk1"/>
                </a:solidFill>
              </a:rPr>
              <a:t>Njohuri të reja të fituara:</a:t>
            </a:r>
            <a:endParaRPr b="1" sz="1100">
              <a:solidFill>
                <a:schemeClr val="dk1"/>
              </a:solidFill>
            </a:endParaRPr>
          </a:p>
          <a:p>
            <a:pPr indent="-298450" lvl="0" marL="457200" rtl="0" algn="l">
              <a:lnSpc>
                <a:spcPct val="115000"/>
              </a:lnSpc>
              <a:spcBef>
                <a:spcPts val="500"/>
              </a:spcBef>
              <a:spcAft>
                <a:spcPts val="0"/>
              </a:spcAft>
              <a:buClr>
                <a:schemeClr val="dk1"/>
              </a:buClr>
              <a:buSzPts val="1100"/>
              <a:buChar char="●"/>
            </a:pPr>
            <a:r>
              <a:rPr lang="it" sz="1100">
                <a:solidFill>
                  <a:schemeClr val="dk1"/>
                </a:solidFill>
              </a:rPr>
              <a:t>Punë praktike me sensorë realë si ACS712</a:t>
            </a:r>
            <a:endParaRPr sz="1100">
              <a:solidFill>
                <a:schemeClr val="dk1"/>
              </a:solidFill>
            </a:endParaRPr>
          </a:p>
          <a:p>
            <a:pPr indent="-298450" lvl="0" marL="457200" rtl="0" algn="l">
              <a:lnSpc>
                <a:spcPct val="115000"/>
              </a:lnSpc>
              <a:spcBef>
                <a:spcPts val="500"/>
              </a:spcBef>
              <a:spcAft>
                <a:spcPts val="0"/>
              </a:spcAft>
              <a:buClr>
                <a:schemeClr val="dk1"/>
              </a:buClr>
              <a:buSzPts val="1100"/>
              <a:buChar char="●"/>
            </a:pPr>
            <a:r>
              <a:rPr lang="it" sz="1100">
                <a:solidFill>
                  <a:schemeClr val="dk1"/>
                </a:solidFill>
              </a:rPr>
              <a:t>Interpretimi i sinjaleve me osciloskop</a:t>
            </a:r>
            <a:endParaRPr sz="1100">
              <a:solidFill>
                <a:schemeClr val="dk1"/>
              </a:solidFill>
            </a:endParaRPr>
          </a:p>
          <a:p>
            <a:pPr indent="-298450" lvl="0" marL="457200" rtl="0" algn="l">
              <a:lnSpc>
                <a:spcPct val="115000"/>
              </a:lnSpc>
              <a:spcBef>
                <a:spcPts val="500"/>
              </a:spcBef>
              <a:spcAft>
                <a:spcPts val="0"/>
              </a:spcAft>
              <a:buClr>
                <a:schemeClr val="dk1"/>
              </a:buClr>
              <a:buSzPts val="1100"/>
              <a:buChar char="●"/>
            </a:pPr>
            <a:r>
              <a:rPr lang="it" sz="1100">
                <a:solidFill>
                  <a:schemeClr val="dk1"/>
                </a:solidFill>
              </a:rPr>
              <a:t>Kalibrimi i matjeve në përputhje me realitetin</a:t>
            </a:r>
            <a:endParaRPr sz="1100">
              <a:solidFill>
                <a:schemeClr val="dk1"/>
              </a:solidFill>
            </a:endParaRPr>
          </a:p>
          <a:p>
            <a:pPr indent="-298450" lvl="0" marL="457200" rtl="0" algn="l">
              <a:lnSpc>
                <a:spcPct val="115000"/>
              </a:lnSpc>
              <a:spcBef>
                <a:spcPts val="500"/>
              </a:spcBef>
              <a:spcAft>
                <a:spcPts val="0"/>
              </a:spcAft>
              <a:buClr>
                <a:schemeClr val="dk1"/>
              </a:buClr>
              <a:buSzPts val="1100"/>
              <a:buChar char="●"/>
            </a:pPr>
            <a:r>
              <a:rPr lang="it" sz="1100">
                <a:solidFill>
                  <a:schemeClr val="dk1"/>
                </a:solidFill>
              </a:rPr>
              <a:t>Dokumentimi teknik dhe analiza financiare</a:t>
            </a:r>
            <a:endParaRPr sz="1100">
              <a:solidFill>
                <a:schemeClr val="dk1"/>
              </a:solidFill>
            </a:endParaRPr>
          </a:p>
          <a:p>
            <a:pPr indent="0" lvl="0" marL="0" rtl="0" algn="l">
              <a:lnSpc>
                <a:spcPct val="115000"/>
              </a:lnSpc>
              <a:spcBef>
                <a:spcPts val="500"/>
              </a:spcBef>
              <a:spcAft>
                <a:spcPts val="0"/>
              </a:spcAft>
              <a:buClr>
                <a:schemeClr val="dk1"/>
              </a:buClr>
              <a:buSzPts val="1100"/>
              <a:buFont typeface="Arial"/>
              <a:buNone/>
            </a:pPr>
            <a:r>
              <a:rPr b="1" lang="it" sz="1100">
                <a:solidFill>
                  <a:schemeClr val="dk1"/>
                </a:solidFill>
              </a:rPr>
              <a:t>Rëndësia dhe ndikimi i temës:</a:t>
            </a:r>
            <a:endParaRPr b="1" sz="1100">
              <a:solidFill>
                <a:schemeClr val="dk1"/>
              </a:solidFill>
            </a:endParaRPr>
          </a:p>
          <a:p>
            <a:pPr indent="-298450" lvl="0" marL="457200" rtl="0" algn="l">
              <a:lnSpc>
                <a:spcPct val="115000"/>
              </a:lnSpc>
              <a:spcBef>
                <a:spcPts val="500"/>
              </a:spcBef>
              <a:spcAft>
                <a:spcPts val="0"/>
              </a:spcAft>
              <a:buClr>
                <a:schemeClr val="dk1"/>
              </a:buClr>
              <a:buSzPts val="1100"/>
              <a:buChar char="●"/>
            </a:pPr>
            <a:r>
              <a:rPr lang="it" sz="1100">
                <a:solidFill>
                  <a:schemeClr val="dk1"/>
                </a:solidFill>
              </a:rPr>
              <a:t>Zhvillon aftësi praktike për matje dhe analizë të qarkut elektrik</a:t>
            </a:r>
            <a:endParaRPr sz="1100">
              <a:solidFill>
                <a:schemeClr val="dk1"/>
              </a:solidFill>
            </a:endParaRPr>
          </a:p>
          <a:p>
            <a:pPr indent="-298450" lvl="0" marL="457200" rtl="0" algn="l">
              <a:lnSpc>
                <a:spcPct val="115000"/>
              </a:lnSpc>
              <a:spcBef>
                <a:spcPts val="500"/>
              </a:spcBef>
              <a:spcAft>
                <a:spcPts val="0"/>
              </a:spcAft>
              <a:buClr>
                <a:schemeClr val="dk1"/>
              </a:buClr>
              <a:buSzPts val="1100"/>
              <a:buChar char="●"/>
            </a:pPr>
            <a:r>
              <a:rPr lang="it" sz="1100">
                <a:solidFill>
                  <a:schemeClr val="dk1"/>
                </a:solidFill>
              </a:rPr>
              <a:t>Përdoret si bazë për sisteme më të avancuara (monitorim i konsumit, pajisje smart)</a:t>
            </a:r>
            <a:endParaRPr sz="1100">
              <a:solidFill>
                <a:schemeClr val="dk1"/>
              </a:solidFill>
            </a:endParaRPr>
          </a:p>
          <a:p>
            <a:pPr indent="-298450" lvl="0" marL="457200" rtl="0" algn="l">
              <a:lnSpc>
                <a:spcPct val="115000"/>
              </a:lnSpc>
              <a:spcBef>
                <a:spcPts val="500"/>
              </a:spcBef>
              <a:spcAft>
                <a:spcPts val="500"/>
              </a:spcAft>
              <a:buClr>
                <a:schemeClr val="dk1"/>
              </a:buClr>
              <a:buSzPts val="1100"/>
              <a:buChar char="●"/>
            </a:pPr>
            <a:r>
              <a:rPr lang="it" sz="1100">
                <a:solidFill>
                  <a:schemeClr val="dk1"/>
                </a:solidFill>
              </a:rPr>
              <a:t>Nxit të menduarit kritik dhe zgjidhjen e problemeve në elektronikë</a:t>
            </a:r>
            <a:endParaRPr sz="1800">
              <a:solidFill>
                <a:schemeClr val="dk2"/>
              </a:solidFill>
            </a:endParaRPr>
          </a:p>
        </p:txBody>
      </p:sp>
    </p:spTree>
  </p:cSld>
  <p:clrMapOvr>
    <a:masterClrMapping/>
  </p:clrMapOvr>
  <mc:AlternateContent>
    <mc:Choice Requires="p14">
      <p:transition spd="slow" p14:dur="1000">
        <p:fade thruBlk="1"/>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pic>
        <p:nvPicPr>
          <p:cNvPr id="178" name="Google Shape;178;p26"/>
          <p:cNvPicPr preferRelativeResize="0"/>
          <p:nvPr/>
        </p:nvPicPr>
        <p:blipFill>
          <a:blip r:embed="rId3">
            <a:alphaModFix amt="6000"/>
          </a:blip>
          <a:stretch>
            <a:fillRect/>
          </a:stretch>
        </p:blipFill>
        <p:spPr>
          <a:xfrm>
            <a:off x="1839925" y="-25"/>
            <a:ext cx="7208366" cy="5143501"/>
          </a:xfrm>
          <a:prstGeom prst="rect">
            <a:avLst/>
          </a:prstGeom>
          <a:noFill/>
          <a:ln>
            <a:noFill/>
          </a:ln>
        </p:spPr>
      </p:pic>
      <p:sp>
        <p:nvSpPr>
          <p:cNvPr id="179" name="Google Shape;179;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80" name="Google Shape;180;p26"/>
          <p:cNvSpPr/>
          <p:nvPr/>
        </p:nvSpPr>
        <p:spPr>
          <a:xfrm>
            <a:off x="2335350" y="967450"/>
            <a:ext cx="5214000" cy="1785300"/>
          </a:xfrm>
          <a:prstGeom prst="roundRect">
            <a:avLst>
              <a:gd fmla="val 16667" name="adj"/>
            </a:avLst>
          </a:prstGeom>
          <a:solidFill>
            <a:srgbClr val="003A65"/>
          </a:solidFill>
          <a:ln>
            <a:noFill/>
          </a:ln>
          <a:effectLst>
            <a:outerShdw blurRad="57150" rotWithShape="0" algn="bl" dir="5400000" dist="19050">
              <a:srgbClr val="000000">
                <a:alpha val="49800"/>
              </a:srgbClr>
            </a:outerShdw>
            <a:reflection blurRad="0" dir="5400000" dist="38100" endA="0" endPos="30000" fadeDir="5400012" kx="0" rotWithShape="0" algn="bl" stA="36000" stPos="0" sy="-100000" ky="0"/>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4400"/>
              <a:buFont typeface="Arial"/>
              <a:buNone/>
            </a:pPr>
            <a:r>
              <a:rPr i="0" lang="it" sz="4400" u="none" cap="none" strike="noStrike">
                <a:solidFill>
                  <a:schemeClr val="lt1"/>
                </a:solidFill>
                <a:latin typeface="Rajdhani"/>
                <a:ea typeface="Rajdhani"/>
                <a:cs typeface="Rajdhani"/>
                <a:sym typeface="Rajdhani"/>
              </a:rPr>
              <a:t>Pyetje?</a:t>
            </a:r>
            <a:endParaRPr i="0" sz="3800" u="none" cap="none" strike="noStrike">
              <a:solidFill>
                <a:schemeClr val="lt1"/>
              </a:solidFill>
              <a:latin typeface="Rajdhani"/>
              <a:ea typeface="Rajdhani"/>
              <a:cs typeface="Rajdhani"/>
              <a:sym typeface="Rajdhani"/>
            </a:endParaRPr>
          </a:p>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FFFFFF"/>
              </a:solidFill>
              <a:latin typeface="Rajdhani"/>
              <a:ea typeface="Rajdhani"/>
              <a:cs typeface="Rajdhani"/>
              <a:sym typeface="Rajdhani"/>
            </a:endParaRPr>
          </a:p>
        </p:txBody>
      </p:sp>
      <p:sp>
        <p:nvSpPr>
          <p:cNvPr id="181" name="Google Shape;181;p26"/>
          <p:cNvSpPr txBox="1"/>
          <p:nvPr/>
        </p:nvSpPr>
        <p:spPr>
          <a:xfrm>
            <a:off x="2335350" y="2752750"/>
            <a:ext cx="5086200" cy="148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000"/>
              </a:spcBef>
              <a:spcAft>
                <a:spcPts val="0"/>
              </a:spcAft>
              <a:buClr>
                <a:srgbClr val="000000"/>
              </a:buClr>
              <a:buSzPts val="2600"/>
              <a:buFont typeface="Arial"/>
              <a:buNone/>
            </a:pPr>
            <a:r>
              <a:rPr lang="it" sz="2600">
                <a:latin typeface="Jura"/>
                <a:ea typeface="Jura"/>
                <a:cs typeface="Jura"/>
                <a:sym typeface="Jura"/>
              </a:rPr>
              <a:t>Bjornis Kaso</a:t>
            </a:r>
            <a:endParaRPr i="0" sz="2600" u="none" cap="none" strike="noStrike">
              <a:solidFill>
                <a:srgbClr val="000000"/>
              </a:solidFill>
              <a:latin typeface="Jura"/>
              <a:ea typeface="Jura"/>
              <a:cs typeface="Jura"/>
              <a:sym typeface="Jura"/>
            </a:endParaRPr>
          </a:p>
          <a:p>
            <a:pPr indent="0" lvl="0" marL="0" marR="0" rtl="0" algn="l">
              <a:lnSpc>
                <a:spcPct val="100000"/>
              </a:lnSpc>
              <a:spcBef>
                <a:spcPts val="1000"/>
              </a:spcBef>
              <a:spcAft>
                <a:spcPts val="0"/>
              </a:spcAft>
              <a:buClr>
                <a:srgbClr val="000000"/>
              </a:buClr>
              <a:buSzPts val="2100"/>
              <a:buFont typeface="Arial"/>
              <a:buNone/>
            </a:pPr>
            <a:r>
              <a:rPr i="0" lang="it" sz="2100" u="none" cap="none" strike="noStrike">
                <a:solidFill>
                  <a:srgbClr val="000000"/>
                </a:solidFill>
                <a:latin typeface="Jura"/>
                <a:ea typeface="Jura"/>
                <a:cs typeface="Jura"/>
                <a:sym typeface="Jura"/>
              </a:rPr>
              <a:t>Mobile	: +355 </a:t>
            </a:r>
            <a:r>
              <a:rPr lang="it" sz="2100">
                <a:latin typeface="Jura"/>
                <a:ea typeface="Jura"/>
                <a:cs typeface="Jura"/>
                <a:sym typeface="Jura"/>
              </a:rPr>
              <a:t>xxxxxxx</a:t>
            </a:r>
            <a:endParaRPr i="0" sz="2100" u="none" cap="none" strike="noStrike">
              <a:solidFill>
                <a:srgbClr val="000000"/>
              </a:solidFill>
              <a:latin typeface="Jura"/>
              <a:ea typeface="Jura"/>
              <a:cs typeface="Jura"/>
              <a:sym typeface="Jura"/>
            </a:endParaRPr>
          </a:p>
          <a:p>
            <a:pPr indent="0" lvl="0" marL="0" marR="0" rtl="0" algn="l">
              <a:lnSpc>
                <a:spcPct val="100000"/>
              </a:lnSpc>
              <a:spcBef>
                <a:spcPts val="1000"/>
              </a:spcBef>
              <a:spcAft>
                <a:spcPts val="0"/>
              </a:spcAft>
              <a:buClr>
                <a:srgbClr val="000000"/>
              </a:buClr>
              <a:buSzPts val="2100"/>
              <a:buFont typeface="Arial"/>
              <a:buNone/>
            </a:pPr>
            <a:r>
              <a:rPr i="0" lang="it" sz="2100" u="none" cap="none" strike="noStrike">
                <a:solidFill>
                  <a:srgbClr val="000000"/>
                </a:solidFill>
                <a:latin typeface="Jura"/>
                <a:ea typeface="Jura"/>
                <a:cs typeface="Jura"/>
                <a:sym typeface="Jura"/>
              </a:rPr>
              <a:t>Email	: </a:t>
            </a:r>
            <a:r>
              <a:rPr lang="it" sz="2100">
                <a:latin typeface="Jura"/>
                <a:ea typeface="Jura"/>
                <a:cs typeface="Jura"/>
                <a:sym typeface="Jura"/>
              </a:rPr>
              <a:t>bjornis.kaso@harryfultz.edu.al</a:t>
            </a:r>
            <a:endParaRPr i="0" sz="2100" u="none" cap="none" strike="noStrike">
              <a:solidFill>
                <a:srgbClr val="000000"/>
              </a:solidFill>
              <a:latin typeface="Jura"/>
              <a:ea typeface="Jura"/>
              <a:cs typeface="Jura"/>
              <a:sym typeface="Jura"/>
            </a:endParaRPr>
          </a:p>
        </p:txBody>
      </p:sp>
      <p:sp>
        <p:nvSpPr>
          <p:cNvPr id="182" name="Google Shape;182;p26"/>
          <p:cNvSpPr/>
          <p:nvPr/>
        </p:nvSpPr>
        <p:spPr>
          <a:xfrm>
            <a:off x="2335350" y="967438"/>
            <a:ext cx="5214000" cy="1785300"/>
          </a:xfrm>
          <a:prstGeom prst="roundRect">
            <a:avLst>
              <a:gd fmla="val 16667" name="adj"/>
            </a:avLst>
          </a:prstGeom>
          <a:solidFill>
            <a:srgbClr val="003A65"/>
          </a:solidFill>
          <a:ln>
            <a:noFill/>
          </a:ln>
          <a:effectLst>
            <a:outerShdw blurRad="57150" rotWithShape="0" algn="bl" dir="5400000" dist="19050">
              <a:srgbClr val="000000">
                <a:alpha val="49800"/>
              </a:srgbClr>
            </a:outerShdw>
            <a:reflection blurRad="0" dir="5400000" dist="38100" endA="0" endPos="30000" fadeDir="5400012" kx="0" rotWithShape="0" algn="bl" stA="36000" stPos="0" sy="-100000" ky="0"/>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i="0" lang="it" sz="4000" u="none" cap="none" strike="noStrike">
                <a:solidFill>
                  <a:schemeClr val="lt1"/>
                </a:solidFill>
                <a:latin typeface="Rajdhani"/>
                <a:ea typeface="Rajdhani"/>
                <a:cs typeface="Rajdhani"/>
                <a:sym typeface="Rajdhani"/>
              </a:rPr>
              <a:t>Faleminderit për vëmëndjen!</a:t>
            </a:r>
            <a:endParaRPr i="0" sz="1600" u="none" cap="none" strike="noStrike">
              <a:solidFill>
                <a:srgbClr val="FFFFFF"/>
              </a:solidFill>
              <a:latin typeface="Rajdhani"/>
              <a:ea typeface="Rajdhani"/>
              <a:cs typeface="Rajdhani"/>
              <a:sym typeface="Rajdhani"/>
            </a:endParaRPr>
          </a:p>
        </p:txBody>
      </p:sp>
      <p:pic>
        <p:nvPicPr>
          <p:cNvPr id="183" name="Google Shape;183;p26"/>
          <p:cNvPicPr preferRelativeResize="0"/>
          <p:nvPr/>
        </p:nvPicPr>
        <p:blipFill rotWithShape="1">
          <a:blip r:embed="rId4">
            <a:alphaModFix/>
          </a:blip>
          <a:srcRect b="0" l="0" r="0" t="0"/>
          <a:stretch/>
        </p:blipFill>
        <p:spPr>
          <a:xfrm>
            <a:off x="120925" y="892662"/>
            <a:ext cx="1934950" cy="1934874"/>
          </a:xfrm>
          <a:prstGeom prst="rect">
            <a:avLst/>
          </a:prstGeom>
          <a:noFill/>
          <a:ln>
            <a:noFill/>
          </a:ln>
          <a:effectLst>
            <a:outerShdw blurRad="471488" rotWithShape="0" algn="bl">
              <a:srgbClr val="003A65">
                <a:alpha val="50000"/>
              </a:srgbClr>
            </a:outerShdw>
          </a:effectLst>
        </p:spPr>
      </p:pic>
      <p:sp>
        <p:nvSpPr>
          <p:cNvPr id="184" name="Google Shape;184;p26"/>
          <p:cNvSpPr txBox="1"/>
          <p:nvPr/>
        </p:nvSpPr>
        <p:spPr>
          <a:xfrm>
            <a:off x="2410525" y="4309225"/>
            <a:ext cx="450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Rajdhani"/>
              <a:ea typeface="Rajdhani"/>
              <a:cs typeface="Rajdhani"/>
              <a:sym typeface="Rajdhani"/>
            </a:endParaRPr>
          </a:p>
        </p:txBody>
      </p:sp>
      <p:sp>
        <p:nvSpPr>
          <p:cNvPr id="185" name="Google Shape;185;p26"/>
          <p:cNvSpPr txBox="1"/>
          <p:nvPr/>
        </p:nvSpPr>
        <p:spPr>
          <a:xfrm>
            <a:off x="0" y="4835700"/>
            <a:ext cx="1121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800">
                <a:solidFill>
                  <a:schemeClr val="dk1"/>
                </a:solidFill>
                <a:latin typeface="Dosis"/>
                <a:ea typeface="Dosis"/>
                <a:cs typeface="Dosis"/>
                <a:sym typeface="Dosis"/>
              </a:rPr>
              <a:t>Rish. MPVx-A-2024-1</a:t>
            </a:r>
            <a:endParaRPr sz="800">
              <a:solidFill>
                <a:schemeClr val="dk1"/>
              </a:solidFill>
              <a:latin typeface="Dosis"/>
              <a:ea typeface="Dosis"/>
              <a:cs typeface="Dosis"/>
              <a:sym typeface="Dosis"/>
            </a:endParaRPr>
          </a:p>
        </p:txBody>
      </p:sp>
    </p:spTree>
  </p:cSld>
  <p:clrMapOvr>
    <a:masterClrMapping/>
  </p:clrMapOvr>
  <mc:AlternateContent>
    <mc:Choice Requires="p14">
      <p:transition spd="slow" p14:dur="1000">
        <p:fade thruBlk="1"/>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gtEl>
                                        <p:attrNameLst>
                                          <p:attrName>style.visibility</p:attrName>
                                        </p:attrNameLst>
                                      </p:cBhvr>
                                      <p:to>
                                        <p:strVal val="visible"/>
                                      </p:to>
                                    </p:set>
                                    <p:animEffect filter="fade" transition="in">
                                      <p:cBhvr>
                                        <p:cTn dur="500"/>
                                        <p:tgtEl>
                                          <p:spTgt spid="1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